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this provocative question. The image shows two patients—same hospital gown, same symptoms—but different outcomes. Pause for 2 seconds before clicking next. Speaking time: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research streams. Fairness work measures accuracy gaps. Hallucination work classifies error types. But no one has asked: do hallucinations themselves happen more often for some demographic groups? That gap is what our project addresses. Speaking time: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Two-part hypothesis. H1 predicts the magnitude. H2 is the more interesting one—it predicts the disparity will appear EVEN on questions where the answer should be the same regardless of patient demographics. If H2 holds, we have evidence of pure bias—not just legitimate clinical reasoning. Speaking time: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4-step pipeline. Emphasize: 20 questions × 4 demographics = 80 unique prompts. Subject model produces responses; Judge model evaluates them using a rubric. We split into two model families to avoid self-evaluation bias. Speaking time: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methodological innovation. We split questions into two sets. For NEUTRAL conditions, the medically correct answer is the same regardless of patient demographics—so any difference reveals pure bias. For SENSITIVE conditions like sickle cell, demographics legitimately matter—so disparity might be appropriate clinical reasoning. This split was directly inspired by the teacher's feedback. Speaking time: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types of hallucination, from MedHalu. FACTUAL: contradicts known medical facts. REASONING: logical errors. EVIDENCE: fabricated citations. The judge model produces a structured rating: binary 0/1 for each type plus free-text notes explaining why. Speaking time: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result from 600 responses. Gender is the dominant axis: men hallucinate 2-3x more than women. Race acts as a secondary amplifier. Speaking time: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neutral questions, gaps are small (2-6%). On sensitive questions, Black man jumps to 16.7% while White woman stays at 3.3% — a 5x gap. Speaking time: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intellectual maturity. Pilot (80) suggested one pattern, full study (600) revealed another. Both confirm disparities exist, but the ordering differs. This proves small-sample audits can mislead. Speaking time: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disparities are real, sensitive questions amplify them, and small-sample audits can mislead. Thank you. Speaking time: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jp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9FC"/>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F4C75"/>
          </a:solidFill>
          <a:ln w="12700">
            <a:solidFill>
              <a:srgbClr val="0F4C75"/>
            </a:solidFill>
            <a:prstDash val="solid"/>
          </a:ln>
        </p:spPr>
      </p:sp>
      <p:sp>
        <p:nvSpPr>
          <p:cNvPr id="3" name="Shape 1"/>
          <p:cNvSpPr/>
          <p:nvPr/>
        </p:nvSpPr>
        <p:spPr>
          <a:xfrm>
            <a:off x="640080" y="914400"/>
            <a:ext cx="54864" cy="2560320"/>
          </a:xfrm>
          <a:prstGeom prst="rect">
            <a:avLst/>
          </a:prstGeom>
          <a:solidFill>
            <a:srgbClr val="00A896"/>
          </a:solidFill>
          <a:ln w="12700">
            <a:solidFill>
              <a:srgbClr val="00A896"/>
            </a:solidFill>
            <a:prstDash val="solid"/>
          </a:ln>
        </p:spPr>
      </p:sp>
      <p:sp>
        <p:nvSpPr>
          <p:cNvPr id="4" name="Text 2"/>
          <p:cNvSpPr/>
          <p:nvPr/>
        </p:nvSpPr>
        <p:spPr>
          <a:xfrm>
            <a:off x="868680" y="822960"/>
            <a:ext cx="4754880" cy="2560320"/>
          </a:xfrm>
          <a:prstGeom prst="rect">
            <a:avLst/>
          </a:prstGeom>
          <a:noFill/>
          <a:ln/>
        </p:spPr>
        <p:txBody>
          <a:bodyPr wrap="square" lIns="0" tIns="0" rIns="0" bIns="0" rtlCol="0" anchor="t"/>
          <a:lstStyle/>
          <a:p>
            <a:pPr indent="0" marL="0">
              <a:spcAft>
                <a:spcPts val="400"/>
              </a:spcAft>
              <a:buNone/>
            </a:pPr>
            <a:r>
              <a:rPr lang="en-US" sz="3200" b="1" dirty="0">
                <a:solidFill>
                  <a:srgbClr val="1B2A41"/>
                </a:solidFill>
                <a:latin typeface="Cambria" pitchFamily="34" charset="0"/>
                <a:ea typeface="Cambria" pitchFamily="34" charset="-122"/>
                <a:cs typeface="Cambria" pitchFamily="34" charset="-120"/>
              </a:rPr>
              <a:t>Same symptoms.</a:t>
            </a:r>
            <a:endParaRPr lang="en-US" sz="3200" dirty="0"/>
          </a:p>
          <a:p>
            <a:pPr indent="0" marL="0">
              <a:spcAft>
                <a:spcPts val="400"/>
              </a:spcAft>
              <a:buNone/>
            </a:pPr>
            <a:r>
              <a:rPr lang="en-US" sz="3200" b="1" dirty="0">
                <a:solidFill>
                  <a:srgbClr val="1B2A41"/>
                </a:solidFill>
                <a:latin typeface="Cambria" pitchFamily="34" charset="0"/>
                <a:ea typeface="Cambria" pitchFamily="34" charset="-122"/>
                <a:cs typeface="Cambria" pitchFamily="34" charset="-120"/>
              </a:rPr>
              <a:t>Same urgency.</a:t>
            </a:r>
            <a:endParaRPr lang="en-US" sz="3200" dirty="0"/>
          </a:p>
          <a:p>
            <a:pPr indent="0" marL="0">
              <a:spcAft>
                <a:spcPts val="400"/>
              </a:spcAft>
              <a:buNone/>
            </a:pPr>
            <a:r>
              <a:rPr lang="en-US" sz="3200" b="1" i="1" dirty="0">
                <a:solidFill>
                  <a:srgbClr val="0F4C75"/>
                </a:solidFill>
                <a:latin typeface="Cambria" pitchFamily="34" charset="0"/>
                <a:ea typeface="Cambria" pitchFamily="34" charset="-122"/>
                <a:cs typeface="Cambria" pitchFamily="34" charset="-120"/>
              </a:rPr>
              <a:t>Different demographics.</a:t>
            </a:r>
            <a:endParaRPr lang="en-US" sz="3200" dirty="0"/>
          </a:p>
          <a:p>
            <a:pPr indent="0" marL="0">
              <a:spcAft>
                <a:spcPts val="400"/>
              </a:spcAft>
              <a:buNone/>
            </a:pPr>
            <a:r>
              <a:rPr lang="en-US" sz="3800" b="1" i="1" dirty="0">
                <a:solidFill>
                  <a:srgbClr val="00A896"/>
                </a:solidFill>
                <a:latin typeface="Cambria" pitchFamily="34" charset="0"/>
                <a:ea typeface="Cambria" pitchFamily="34" charset="-122"/>
                <a:cs typeface="Cambria" pitchFamily="34" charset="-120"/>
              </a:rPr>
              <a:t>Different errors?</a:t>
            </a:r>
            <a:endParaRPr lang="en-US" sz="3200" dirty="0"/>
          </a:p>
        </p:txBody>
      </p:sp>
      <p:pic>
        <p:nvPicPr>
          <p:cNvPr id="5" name="Image 0" descr="/home/claude/work/slides_v2/images/slide1_avif.png">    </p:cNvPr>
          <p:cNvPicPr>
            <a:picLocks noChangeAspect="1"/>
          </p:cNvPicPr>
          <p:nvPr/>
        </p:nvPicPr>
        <p:blipFill>
          <a:blip r:embed="rId1"/>
          <a:stretch>
            <a:fillRect/>
          </a:stretch>
        </p:blipFill>
        <p:spPr>
          <a:xfrm>
            <a:off x="5760720" y="457200"/>
            <a:ext cx="3108960" cy="2194560"/>
          </a:xfrm>
          <a:prstGeom prst="rect">
            <a:avLst/>
          </a:prstGeom>
        </p:spPr>
      </p:pic>
      <p:sp>
        <p:nvSpPr>
          <p:cNvPr id="6" name="Text 3"/>
          <p:cNvSpPr/>
          <p:nvPr/>
        </p:nvSpPr>
        <p:spPr>
          <a:xfrm>
            <a:off x="640080" y="3703320"/>
            <a:ext cx="7863840" cy="411480"/>
          </a:xfrm>
          <a:prstGeom prst="rect">
            <a:avLst/>
          </a:prstGeom>
          <a:noFill/>
          <a:ln/>
        </p:spPr>
        <p:txBody>
          <a:bodyPr wrap="square" lIns="0" tIns="0" rIns="0" bIns="0" rtlCol="0" anchor="ctr"/>
          <a:lstStyle/>
          <a:p>
            <a:pPr indent="0" marL="0">
              <a:buNone/>
            </a:pPr>
            <a:r>
              <a:rPr lang="en-US" sz="1900" b="1" dirty="0">
                <a:solidFill>
                  <a:srgbClr val="0F4C75"/>
                </a:solidFill>
                <a:latin typeface="Cambria" pitchFamily="34" charset="0"/>
                <a:ea typeface="Cambria" pitchFamily="34" charset="-122"/>
                <a:cs typeface="Cambria" pitchFamily="34" charset="-120"/>
              </a:rPr>
              <a:t>Intersectional Demographic Disparities</a:t>
            </a:r>
            <a:endParaRPr lang="en-US" sz="1900" dirty="0"/>
          </a:p>
        </p:txBody>
      </p:sp>
      <p:sp>
        <p:nvSpPr>
          <p:cNvPr id="7" name="Text 4"/>
          <p:cNvSpPr/>
          <p:nvPr/>
        </p:nvSpPr>
        <p:spPr>
          <a:xfrm>
            <a:off x="640080" y="4069080"/>
            <a:ext cx="7863840" cy="365760"/>
          </a:xfrm>
          <a:prstGeom prst="rect">
            <a:avLst/>
          </a:prstGeom>
          <a:noFill/>
          <a:ln/>
        </p:spPr>
        <p:txBody>
          <a:bodyPr wrap="square" lIns="0" tIns="0" rIns="0" bIns="0" rtlCol="0" anchor="ctr"/>
          <a:lstStyle/>
          <a:p>
            <a:pPr indent="0" marL="0">
              <a:buNone/>
            </a:pPr>
            <a:r>
              <a:rPr lang="en-US" sz="1600" i="1" dirty="0">
                <a:solidFill>
                  <a:srgbClr val="5A6F84"/>
                </a:solidFill>
                <a:latin typeface="Calibri" pitchFamily="34" charset="0"/>
                <a:ea typeface="Calibri" pitchFamily="34" charset="-122"/>
                <a:cs typeface="Calibri" pitchFamily="34" charset="-120"/>
              </a:rPr>
              <a:t>in Medical LLM Hallucinations</a:t>
            </a:r>
            <a:endParaRPr lang="en-US" sz="1600" dirty="0"/>
          </a:p>
        </p:txBody>
      </p:sp>
      <p:sp>
        <p:nvSpPr>
          <p:cNvPr id="8" name="Text 5"/>
          <p:cNvSpPr/>
          <p:nvPr/>
        </p:nvSpPr>
        <p:spPr>
          <a:xfrm>
            <a:off x="640080" y="4617720"/>
            <a:ext cx="7863840" cy="274320"/>
          </a:xfrm>
          <a:prstGeom prst="rect">
            <a:avLst/>
          </a:prstGeom>
          <a:noFill/>
          <a:ln/>
        </p:spPr>
        <p:txBody>
          <a:bodyPr wrap="square" lIns="0" tIns="0" rIns="0" bIns="0" rtlCol="0" anchor="ctr"/>
          <a:lstStyle/>
          <a:p>
            <a:pPr indent="0" marL="0">
              <a:buNone/>
            </a:pPr>
            <a:r>
              <a:rPr lang="en-US" sz="1200" dirty="0">
                <a:solidFill>
                  <a:srgbClr val="5A6F84"/>
                </a:solidFill>
                <a:latin typeface="Calibri" pitchFamily="34" charset="0"/>
                <a:ea typeface="Calibri" pitchFamily="34" charset="-122"/>
                <a:cs typeface="Calibri" pitchFamily="34" charset="-120"/>
              </a:rPr>
              <a:t>Final Project Presentation  •  May 5,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3000" b="1" dirty="0">
                <a:solidFill>
                  <a:srgbClr val="0F4C75"/>
                </a:solidFill>
                <a:latin typeface="Cambria" pitchFamily="34" charset="0"/>
                <a:ea typeface="Cambria" pitchFamily="34" charset="-122"/>
                <a:cs typeface="Cambria" pitchFamily="34" charset="-120"/>
              </a:rPr>
              <a:t>Two Research Streams, Never Combined</a:t>
            </a:r>
            <a:endParaRPr lang="en-US" sz="3000" dirty="0"/>
          </a:p>
        </p:txBody>
      </p:sp>
      <p:sp>
        <p:nvSpPr>
          <p:cNvPr id="3" name="Text 1"/>
          <p:cNvSpPr/>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A6F84"/>
                </a:solidFill>
                <a:latin typeface="Calibri" pitchFamily="34" charset="0"/>
                <a:ea typeface="Calibri" pitchFamily="34" charset="-122"/>
                <a:cs typeface="Calibri" pitchFamily="34" charset="-120"/>
              </a:rPr>
              <a:t>Each stream answers part of the question—but not the intersection.</a:t>
            </a:r>
            <a:endParaRPr lang="en-US" sz="1400" dirty="0"/>
          </a:p>
        </p:txBody>
      </p:sp>
      <p:sp>
        <p:nvSpPr>
          <p:cNvPr id="4" name="Shape 2"/>
          <p:cNvSpPr/>
          <p:nvPr/>
        </p:nvSpPr>
        <p:spPr>
          <a:xfrm>
            <a:off x="457200" y="1280160"/>
            <a:ext cx="4023360" cy="3200400"/>
          </a:xfrm>
          <a:prstGeom prst="rect">
            <a:avLst/>
          </a:prstGeom>
          <a:solidFill>
            <a:srgbClr val="F5F9FC"/>
          </a:solidFill>
          <a:ln w="12700">
            <a:solidFill>
              <a:srgbClr val="D5DEE8"/>
            </a:solidFill>
            <a:prstDash val="solid"/>
          </a:ln>
        </p:spPr>
      </p:sp>
      <p:sp>
        <p:nvSpPr>
          <p:cNvPr id="5" name="Shape 3"/>
          <p:cNvSpPr/>
          <p:nvPr/>
        </p:nvSpPr>
        <p:spPr>
          <a:xfrm>
            <a:off x="457200" y="1280160"/>
            <a:ext cx="4023360" cy="73152"/>
          </a:xfrm>
          <a:prstGeom prst="rect">
            <a:avLst/>
          </a:prstGeom>
          <a:solidFill>
            <a:srgbClr val="0F4C75"/>
          </a:solidFill>
          <a:ln/>
        </p:spPr>
      </p:sp>
      <p:pic>
        <p:nvPicPr>
          <p:cNvPr id="6" name="Image 0" descr="/home/claude/work/slides_v2/icons/fairness.png">    </p:cNvPr>
          <p:cNvPicPr>
            <a:picLocks noChangeAspect="1"/>
          </p:cNvPicPr>
          <p:nvPr/>
        </p:nvPicPr>
        <p:blipFill>
          <a:blip r:embed="rId1"/>
          <a:stretch>
            <a:fillRect/>
          </a:stretch>
        </p:blipFill>
        <p:spPr>
          <a:xfrm>
            <a:off x="685800" y="1508760"/>
            <a:ext cx="502920" cy="502920"/>
          </a:xfrm>
          <a:prstGeom prst="rect">
            <a:avLst/>
          </a:prstGeom>
        </p:spPr>
      </p:pic>
      <p:sp>
        <p:nvSpPr>
          <p:cNvPr id="7" name="Text 4"/>
          <p:cNvSpPr/>
          <p:nvPr/>
        </p:nvSpPr>
        <p:spPr>
          <a:xfrm>
            <a:off x="1325880" y="1508760"/>
            <a:ext cx="3017520" cy="274320"/>
          </a:xfrm>
          <a:prstGeom prst="rect">
            <a:avLst/>
          </a:prstGeom>
          <a:noFill/>
          <a:ln/>
        </p:spPr>
        <p:txBody>
          <a:bodyPr wrap="square" lIns="0" tIns="0" rIns="0" bIns="0" rtlCol="0" anchor="ctr"/>
          <a:lstStyle/>
          <a:p>
            <a:pPr indent="0" marL="0">
              <a:buNone/>
            </a:pPr>
            <a:r>
              <a:rPr lang="en-US" sz="1200" b="1" spc="300" kern="0" dirty="0">
                <a:solidFill>
                  <a:srgbClr val="0F4C75"/>
                </a:solidFill>
                <a:latin typeface="Calibri" pitchFamily="34" charset="0"/>
                <a:ea typeface="Calibri" pitchFamily="34" charset="-122"/>
                <a:cs typeface="Calibri" pitchFamily="34" charset="-120"/>
              </a:rPr>
              <a:t>FAIRNESS RESEARCH</a:t>
            </a:r>
            <a:endParaRPr lang="en-US" sz="1200" dirty="0"/>
          </a:p>
        </p:txBody>
      </p:sp>
      <p:sp>
        <p:nvSpPr>
          <p:cNvPr id="8" name="Text 5"/>
          <p:cNvSpPr/>
          <p:nvPr/>
        </p:nvSpPr>
        <p:spPr>
          <a:xfrm>
            <a:off x="1325880" y="1783080"/>
            <a:ext cx="3017520" cy="274320"/>
          </a:xfrm>
          <a:prstGeom prst="rect">
            <a:avLst/>
          </a:prstGeom>
          <a:noFill/>
          <a:ln/>
        </p:spPr>
        <p:txBody>
          <a:bodyPr wrap="square" lIns="0" tIns="0" rIns="0" bIns="0" rtlCol="0" anchor="ctr"/>
          <a:lstStyle/>
          <a:p>
            <a:pPr indent="0" marL="0">
              <a:buNone/>
            </a:pPr>
            <a:r>
              <a:rPr lang="en-US" sz="1600" b="1" dirty="0">
                <a:solidFill>
                  <a:srgbClr val="1B2A41"/>
                </a:solidFill>
                <a:latin typeface="Cambria" pitchFamily="34" charset="0"/>
                <a:ea typeface="Cambria" pitchFamily="34" charset="-122"/>
                <a:cs typeface="Cambria" pitchFamily="34" charset="-120"/>
              </a:rPr>
              <a:t>Demographic accuracy gaps</a:t>
            </a:r>
            <a:endParaRPr lang="en-US" sz="1600" dirty="0"/>
          </a:p>
        </p:txBody>
      </p:sp>
      <p:sp>
        <p:nvSpPr>
          <p:cNvPr id="9" name="Text 6"/>
          <p:cNvSpPr/>
          <p:nvPr/>
        </p:nvSpPr>
        <p:spPr>
          <a:xfrm>
            <a:off x="685800" y="2286000"/>
            <a:ext cx="3657600" cy="1097280"/>
          </a:xfrm>
          <a:prstGeom prst="rect">
            <a:avLst/>
          </a:prstGeom>
          <a:noFill/>
          <a:ln/>
        </p:spPr>
        <p:txBody>
          <a:bodyPr wrap="square" lIns="0" tIns="0" rIns="0" bIns="0" rtlCol="0" anchor="ctr"/>
          <a:lstStyle/>
          <a:p>
            <a:pPr indent="0" marL="0">
              <a:buNone/>
            </a:pPr>
            <a:r>
              <a:rPr lang="en-US" sz="1300" dirty="0">
                <a:solidFill>
                  <a:srgbClr val="5A6F84"/>
                </a:solidFill>
                <a:latin typeface="Calibri" pitchFamily="34" charset="0"/>
                <a:ea typeface="Calibri" pitchFamily="34" charset="-122"/>
                <a:cs typeface="Calibri" pitchFamily="34" charset="-120"/>
              </a:rPr>
              <a:t>Studies show LLMs answer differently for patients of different races or genders—but only measure </a:t>
            </a:r>
            <a:pPr indent="0" marL="0">
              <a:buNone/>
            </a:pPr>
            <a:r>
              <a:rPr lang="en-US" sz="1300" b="1" dirty="0">
                <a:solidFill>
                  <a:srgbClr val="0F4C75"/>
                </a:solidFill>
                <a:latin typeface="Calibri" pitchFamily="34" charset="0"/>
                <a:ea typeface="Calibri" pitchFamily="34" charset="-122"/>
                <a:cs typeface="Calibri" pitchFamily="34" charset="-120"/>
              </a:rPr>
              <a:t>WHETHER</a:t>
            </a:r>
            <a:pPr indent="0" marL="0">
              <a:buNone/>
            </a:pPr>
            <a:r>
              <a:rPr lang="en-US" sz="1300" dirty="0">
                <a:solidFill>
                  <a:srgbClr val="5A6F84"/>
                </a:solidFill>
                <a:latin typeface="Calibri" pitchFamily="34" charset="0"/>
                <a:ea typeface="Calibri" pitchFamily="34" charset="-122"/>
                <a:cs typeface="Calibri" pitchFamily="34" charset="-120"/>
              </a:rPr>
              <a:t> the answer is right or wrong.</a:t>
            </a:r>
            <a:endParaRPr lang="en-US" sz="1300" dirty="0"/>
          </a:p>
        </p:txBody>
      </p:sp>
      <p:sp>
        <p:nvSpPr>
          <p:cNvPr id="10" name="Text 7"/>
          <p:cNvSpPr/>
          <p:nvPr/>
        </p:nvSpPr>
        <p:spPr>
          <a:xfrm>
            <a:off x="685800" y="3657600"/>
            <a:ext cx="3657600" cy="731520"/>
          </a:xfrm>
          <a:prstGeom prst="rect">
            <a:avLst/>
          </a:prstGeom>
          <a:noFill/>
          <a:ln/>
        </p:spPr>
        <p:txBody>
          <a:bodyPr wrap="square" lIns="0" tIns="0" rIns="0" bIns="0" rtlCol="0" anchor="ctr"/>
          <a:lstStyle/>
          <a:p>
            <a:pPr indent="0" marL="0">
              <a:spcAft>
                <a:spcPts val="100"/>
              </a:spcAft>
              <a:buNone/>
            </a:pPr>
            <a:r>
              <a:rPr lang="en-US" sz="1200" b="1" dirty="0">
                <a:solidFill>
                  <a:srgbClr val="1B2A41"/>
                </a:solidFill>
                <a:latin typeface="Calibri" pitchFamily="34" charset="0"/>
                <a:ea typeface="Calibri" pitchFamily="34" charset="-122"/>
                <a:cs typeface="Calibri" pitchFamily="34" charset="-120"/>
              </a:rPr>
              <a:t>Examples:</a:t>
            </a:r>
            <a:endParaRPr lang="en-US" sz="1200" dirty="0"/>
          </a:p>
          <a:p>
            <a:pPr indent="0" marL="0">
              <a:spcAft>
                <a:spcPts val="100"/>
              </a:spcAft>
              <a:buNone/>
            </a:pPr>
            <a:r>
              <a:rPr lang="en-US" sz="1100" i="1" dirty="0">
                <a:solidFill>
                  <a:srgbClr val="5A6F84"/>
                </a:solidFill>
                <a:latin typeface="Calibri" pitchFamily="34" charset="0"/>
                <a:ea typeface="Calibri" pitchFamily="34" charset="-122"/>
                <a:cs typeface="Calibri" pitchFamily="34" charset="-120"/>
              </a:rPr>
              <a:t>Rawat et al. (DiversityMedQA, 2024)</a:t>
            </a:r>
            <a:endParaRPr lang="en-US" sz="1200" dirty="0"/>
          </a:p>
          <a:p>
            <a:pPr indent="0" marL="0">
              <a:spcAft>
                <a:spcPts val="100"/>
              </a:spcAft>
              <a:buNone/>
            </a:pPr>
            <a:r>
              <a:rPr lang="en-US" sz="1100" i="1" dirty="0">
                <a:solidFill>
                  <a:srgbClr val="5A6F84"/>
                </a:solidFill>
                <a:latin typeface="Calibri" pitchFamily="34" charset="0"/>
                <a:ea typeface="Calibri" pitchFamily="34" charset="-122"/>
                <a:cs typeface="Calibri" pitchFamily="34" charset="-120"/>
              </a:rPr>
              <a:t>Pfohl et al. (EquityMedQA, 2024)</a:t>
            </a:r>
            <a:endParaRPr lang="en-US" sz="1200" dirty="0"/>
          </a:p>
        </p:txBody>
      </p:sp>
      <p:sp>
        <p:nvSpPr>
          <p:cNvPr id="11" name="Shape 8"/>
          <p:cNvSpPr/>
          <p:nvPr/>
        </p:nvSpPr>
        <p:spPr>
          <a:xfrm>
            <a:off x="4663440" y="1280160"/>
            <a:ext cx="4023360" cy="3200400"/>
          </a:xfrm>
          <a:prstGeom prst="rect">
            <a:avLst/>
          </a:prstGeom>
          <a:solidFill>
            <a:srgbClr val="F5F9FC"/>
          </a:solidFill>
          <a:ln w="12700">
            <a:solidFill>
              <a:srgbClr val="D5DEE8"/>
            </a:solidFill>
            <a:prstDash val="solid"/>
          </a:ln>
        </p:spPr>
      </p:sp>
      <p:sp>
        <p:nvSpPr>
          <p:cNvPr id="12" name="Shape 9"/>
          <p:cNvSpPr/>
          <p:nvPr/>
        </p:nvSpPr>
        <p:spPr>
          <a:xfrm>
            <a:off x="4663440" y="1280160"/>
            <a:ext cx="4023360" cy="73152"/>
          </a:xfrm>
          <a:prstGeom prst="rect">
            <a:avLst/>
          </a:prstGeom>
          <a:solidFill>
            <a:srgbClr val="00A896"/>
          </a:solidFill>
          <a:ln/>
        </p:spPr>
      </p:sp>
      <p:pic>
        <p:nvPicPr>
          <p:cNvPr id="13" name="Image 1" descr="/home/claude/work/slides_v2/icons/hallucination.png">    </p:cNvPr>
          <p:cNvPicPr>
            <a:picLocks noChangeAspect="1"/>
          </p:cNvPicPr>
          <p:nvPr/>
        </p:nvPicPr>
        <p:blipFill>
          <a:blip r:embed="rId2"/>
          <a:stretch>
            <a:fillRect/>
          </a:stretch>
        </p:blipFill>
        <p:spPr>
          <a:xfrm>
            <a:off x="4892040" y="1508760"/>
            <a:ext cx="502920" cy="502920"/>
          </a:xfrm>
          <a:prstGeom prst="rect">
            <a:avLst/>
          </a:prstGeom>
        </p:spPr>
      </p:pic>
      <p:sp>
        <p:nvSpPr>
          <p:cNvPr id="14" name="Text 10"/>
          <p:cNvSpPr/>
          <p:nvPr/>
        </p:nvSpPr>
        <p:spPr>
          <a:xfrm>
            <a:off x="5532120" y="1508760"/>
            <a:ext cx="301752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HALLUCINATION RESEARCH</a:t>
            </a:r>
            <a:endParaRPr lang="en-US" sz="1200" dirty="0"/>
          </a:p>
        </p:txBody>
      </p:sp>
      <p:sp>
        <p:nvSpPr>
          <p:cNvPr id="15" name="Text 11"/>
          <p:cNvSpPr/>
          <p:nvPr/>
        </p:nvSpPr>
        <p:spPr>
          <a:xfrm>
            <a:off x="5532120" y="1783080"/>
            <a:ext cx="3017520" cy="274320"/>
          </a:xfrm>
          <a:prstGeom prst="rect">
            <a:avLst/>
          </a:prstGeom>
          <a:noFill/>
          <a:ln/>
        </p:spPr>
        <p:txBody>
          <a:bodyPr wrap="square" lIns="0" tIns="0" rIns="0" bIns="0" rtlCol="0" anchor="ctr"/>
          <a:lstStyle/>
          <a:p>
            <a:pPr indent="0" marL="0">
              <a:buNone/>
            </a:pPr>
            <a:r>
              <a:rPr lang="en-US" sz="1600" b="1" dirty="0">
                <a:solidFill>
                  <a:srgbClr val="1B2A41"/>
                </a:solidFill>
                <a:latin typeface="Cambria" pitchFamily="34" charset="0"/>
                <a:ea typeface="Cambria" pitchFamily="34" charset="-122"/>
                <a:cs typeface="Cambria" pitchFamily="34" charset="-120"/>
              </a:rPr>
              <a:t>Error type classification</a:t>
            </a:r>
            <a:endParaRPr lang="en-US" sz="1600" dirty="0"/>
          </a:p>
        </p:txBody>
      </p:sp>
      <p:sp>
        <p:nvSpPr>
          <p:cNvPr id="16" name="Text 12"/>
          <p:cNvSpPr/>
          <p:nvPr/>
        </p:nvSpPr>
        <p:spPr>
          <a:xfrm>
            <a:off x="4892040" y="2286000"/>
            <a:ext cx="3657600" cy="1097280"/>
          </a:xfrm>
          <a:prstGeom prst="rect">
            <a:avLst/>
          </a:prstGeom>
          <a:noFill/>
          <a:ln/>
        </p:spPr>
        <p:txBody>
          <a:bodyPr wrap="square" lIns="0" tIns="0" rIns="0" bIns="0" rtlCol="0" anchor="ctr"/>
          <a:lstStyle/>
          <a:p>
            <a:pPr indent="0" marL="0">
              <a:buNone/>
            </a:pPr>
            <a:r>
              <a:rPr lang="en-US" sz="1300" dirty="0">
                <a:solidFill>
                  <a:srgbClr val="5A6F84"/>
                </a:solidFill>
                <a:latin typeface="Calibri" pitchFamily="34" charset="0"/>
                <a:ea typeface="Calibri" pitchFamily="34" charset="-122"/>
                <a:cs typeface="Calibri" pitchFamily="34" charset="-120"/>
              </a:rPr>
              <a:t>Studies classify medical errors into </a:t>
            </a:r>
            <a:pPr indent="0" marL="0">
              <a:buNone/>
            </a:pPr>
            <a:r>
              <a:rPr lang="en-US" sz="1300" b="1" dirty="0">
                <a:solidFill>
                  <a:srgbClr val="00A896"/>
                </a:solidFill>
                <a:latin typeface="Calibri" pitchFamily="34" charset="0"/>
                <a:ea typeface="Calibri" pitchFamily="34" charset="-122"/>
                <a:cs typeface="Calibri" pitchFamily="34" charset="-120"/>
              </a:rPr>
              <a:t>factual, reasoning, and evidence</a:t>
            </a:r>
            <a:pPr indent="0" marL="0">
              <a:buNone/>
            </a:pPr>
            <a:r>
              <a:rPr lang="en-US" sz="1300" dirty="0">
                <a:solidFill>
                  <a:srgbClr val="5A6F84"/>
                </a:solidFill>
                <a:latin typeface="Calibri" pitchFamily="34" charset="0"/>
                <a:ea typeface="Calibri" pitchFamily="34" charset="-122"/>
                <a:cs typeface="Calibri" pitchFamily="34" charset="-120"/>
              </a:rPr>
              <a:t> hallucinations—but never test on demographic perturbations.</a:t>
            </a:r>
            <a:endParaRPr lang="en-US" sz="1300" dirty="0"/>
          </a:p>
        </p:txBody>
      </p:sp>
      <p:sp>
        <p:nvSpPr>
          <p:cNvPr id="17" name="Text 13"/>
          <p:cNvSpPr/>
          <p:nvPr/>
        </p:nvSpPr>
        <p:spPr>
          <a:xfrm>
            <a:off x="4892040" y="3657600"/>
            <a:ext cx="3657600" cy="731520"/>
          </a:xfrm>
          <a:prstGeom prst="rect">
            <a:avLst/>
          </a:prstGeom>
          <a:noFill/>
          <a:ln/>
        </p:spPr>
        <p:txBody>
          <a:bodyPr wrap="square" lIns="0" tIns="0" rIns="0" bIns="0" rtlCol="0" anchor="ctr"/>
          <a:lstStyle/>
          <a:p>
            <a:pPr indent="0" marL="0">
              <a:spcAft>
                <a:spcPts val="100"/>
              </a:spcAft>
              <a:buNone/>
            </a:pPr>
            <a:r>
              <a:rPr lang="en-US" sz="1200" b="1" dirty="0">
                <a:solidFill>
                  <a:srgbClr val="1B2A41"/>
                </a:solidFill>
                <a:latin typeface="Calibri" pitchFamily="34" charset="0"/>
                <a:ea typeface="Calibri" pitchFamily="34" charset="-122"/>
                <a:cs typeface="Calibri" pitchFamily="34" charset="-120"/>
              </a:rPr>
              <a:t>Examples:</a:t>
            </a:r>
            <a:endParaRPr lang="en-US" sz="1200" dirty="0"/>
          </a:p>
          <a:p>
            <a:pPr indent="0" marL="0">
              <a:spcAft>
                <a:spcPts val="100"/>
              </a:spcAft>
              <a:buNone/>
            </a:pPr>
            <a:r>
              <a:rPr lang="en-US" sz="1100" i="1" dirty="0">
                <a:solidFill>
                  <a:srgbClr val="5A6F84"/>
                </a:solidFill>
                <a:latin typeface="Calibri" pitchFamily="34" charset="0"/>
                <a:ea typeface="Calibri" pitchFamily="34" charset="-122"/>
                <a:cs typeface="Calibri" pitchFamily="34" charset="-120"/>
              </a:rPr>
              <a:t>Agarwal et al. (MedHalu, 2024)</a:t>
            </a:r>
            <a:endParaRPr lang="en-US" sz="1200" dirty="0"/>
          </a:p>
          <a:p>
            <a:pPr indent="0" marL="0">
              <a:spcAft>
                <a:spcPts val="100"/>
              </a:spcAft>
              <a:buNone/>
            </a:pPr>
            <a:r>
              <a:rPr lang="en-US" sz="1100" i="1" dirty="0">
                <a:solidFill>
                  <a:srgbClr val="5A6F84"/>
                </a:solidFill>
                <a:latin typeface="Calibri" pitchFamily="34" charset="0"/>
                <a:ea typeface="Calibri" pitchFamily="34" charset="-122"/>
                <a:cs typeface="Calibri" pitchFamily="34" charset="-120"/>
              </a:rPr>
              <a:t>Kim et al. (Foundation Models, 2025)</a:t>
            </a:r>
            <a:endParaRPr lang="en-US" sz="1200" dirty="0"/>
          </a:p>
        </p:txBody>
      </p:sp>
      <p:sp>
        <p:nvSpPr>
          <p:cNvPr id="18" name="Shape 14"/>
          <p:cNvSpPr/>
          <p:nvPr/>
        </p:nvSpPr>
        <p:spPr>
          <a:xfrm>
            <a:off x="457200" y="4572000"/>
            <a:ext cx="8229600" cy="411480"/>
          </a:xfrm>
          <a:prstGeom prst="rect">
            <a:avLst/>
          </a:prstGeom>
          <a:solidFill>
            <a:srgbClr val="0F4C75"/>
          </a:solidFill>
          <a:ln w="12700">
            <a:solidFill>
              <a:srgbClr val="0F4C75"/>
            </a:solidFill>
            <a:prstDash val="solid"/>
          </a:ln>
        </p:spPr>
      </p:sp>
      <p:sp>
        <p:nvSpPr>
          <p:cNvPr id="19" name="Text 15"/>
          <p:cNvSpPr/>
          <p:nvPr/>
        </p:nvSpPr>
        <p:spPr>
          <a:xfrm>
            <a:off x="457200" y="4572000"/>
            <a:ext cx="8229600" cy="411480"/>
          </a:xfrm>
          <a:prstGeom prst="rect">
            <a:avLst/>
          </a:prstGeom>
          <a:noFill/>
          <a:ln/>
        </p:spPr>
        <p:txBody>
          <a:bodyPr wrap="square" lIns="0" tIns="0" rIns="0" bIns="0" rtlCol="0" anchor="ctr"/>
          <a:lstStyle/>
          <a:p>
            <a:pPr algn="ctr" indent="0" marL="0">
              <a:buNone/>
            </a:pPr>
            <a:r>
              <a:rPr lang="en-US" sz="1400" b="1" i="1" dirty="0">
                <a:solidFill>
                  <a:srgbClr val="FFFFFF"/>
                </a:solidFill>
                <a:latin typeface="Calibri" pitchFamily="34" charset="0"/>
                <a:ea typeface="Calibri" pitchFamily="34" charset="-122"/>
                <a:cs typeface="Calibri" pitchFamily="34" charset="-120"/>
              </a:rPr>
              <a:t>Our gap:  No study has measured whether HALLUCINATIONS occur at different rates across demographics.</a:t>
            </a:r>
            <a:endParaRPr lang="en-US" sz="1400" dirty="0"/>
          </a:p>
        </p:txBody>
      </p:sp>
      <p:pic>
        <p:nvPicPr>
          <p:cNvPr id="20" name="Image 2" descr="/home/claude/work/slides_v2/images/slide1_barrier.jpg">    </p:cNvPr>
          <p:cNvPicPr>
            <a:picLocks noChangeAspect="1"/>
          </p:cNvPicPr>
          <p:nvPr/>
        </p:nvPicPr>
        <p:blipFill>
          <a:blip r:embed="rId3">
            <a:alphaModFix amt="85000"/>
          </a:blip>
          <a:stretch>
            <a:fillRect/>
          </a:stretch>
        </p:blipFill>
        <p:spPr>
          <a:xfrm>
            <a:off x="7132320" y="3246120"/>
            <a:ext cx="1645920" cy="11887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3000" b="1" dirty="0">
                <a:solidFill>
                  <a:srgbClr val="0F4C75"/>
                </a:solidFill>
                <a:latin typeface="Cambria" pitchFamily="34" charset="0"/>
                <a:ea typeface="Cambria" pitchFamily="34" charset="-122"/>
                <a:cs typeface="Cambria" pitchFamily="34" charset="-120"/>
              </a:rPr>
              <a:t>Research Question</a:t>
            </a:r>
            <a:endParaRPr lang="en-US" sz="3000" dirty="0"/>
          </a:p>
        </p:txBody>
      </p:sp>
      <p:sp>
        <p:nvSpPr>
          <p:cNvPr id="3" name="Shape 1"/>
          <p:cNvSpPr/>
          <p:nvPr/>
        </p:nvSpPr>
        <p:spPr>
          <a:xfrm>
            <a:off x="457200" y="960120"/>
            <a:ext cx="8229600" cy="1325880"/>
          </a:xfrm>
          <a:prstGeom prst="rect">
            <a:avLst/>
          </a:prstGeom>
          <a:solidFill>
            <a:srgbClr val="F5F9FC"/>
          </a:solidFill>
          <a:ln w="19050">
            <a:solidFill>
              <a:srgbClr val="0F4C75"/>
            </a:solidFill>
            <a:prstDash val="solid"/>
          </a:ln>
        </p:spPr>
      </p:sp>
      <p:pic>
        <p:nvPicPr>
          <p:cNvPr id="4" name="Image 0" descr="/home/claude/work/slides_v2/icons/question.png">    </p:cNvPr>
          <p:cNvPicPr>
            <a:picLocks noChangeAspect="1"/>
          </p:cNvPicPr>
          <p:nvPr/>
        </p:nvPicPr>
        <p:blipFill>
          <a:blip r:embed="rId1"/>
          <a:stretch>
            <a:fillRect/>
          </a:stretch>
        </p:blipFill>
        <p:spPr>
          <a:xfrm>
            <a:off x="777240" y="1234440"/>
            <a:ext cx="777240" cy="777240"/>
          </a:xfrm>
          <a:prstGeom prst="rect">
            <a:avLst/>
          </a:prstGeom>
        </p:spPr>
      </p:pic>
      <p:sp>
        <p:nvSpPr>
          <p:cNvPr id="5" name="Text 2"/>
          <p:cNvSpPr/>
          <p:nvPr/>
        </p:nvSpPr>
        <p:spPr>
          <a:xfrm>
            <a:off x="1783080" y="1097280"/>
            <a:ext cx="6675120" cy="1051560"/>
          </a:xfrm>
          <a:prstGeom prst="rect">
            <a:avLst/>
          </a:prstGeom>
          <a:noFill/>
          <a:ln/>
        </p:spPr>
        <p:txBody>
          <a:bodyPr wrap="square" lIns="0" tIns="0" rIns="0" bIns="0" rtlCol="0" anchor="ctr"/>
          <a:lstStyle/>
          <a:p>
            <a:pPr indent="0" marL="0">
              <a:buNone/>
            </a:pPr>
            <a:r>
              <a:rPr lang="en-US" sz="1700" dirty="0">
                <a:solidFill>
                  <a:srgbClr val="1B2A41"/>
                </a:solidFill>
                <a:latin typeface="Calibri" pitchFamily="34" charset="0"/>
                <a:ea typeface="Calibri" pitchFamily="34" charset="-122"/>
                <a:cs typeface="Calibri" pitchFamily="34" charset="-120"/>
              </a:rPr>
              <a:t>Does GPT-4o-mini exhibit demographic disparities in the </a:t>
            </a:r>
            <a:pPr indent="0" marL="0">
              <a:buNone/>
            </a:pPr>
            <a:r>
              <a:rPr lang="en-US" sz="1700" b="1" dirty="0">
                <a:solidFill>
                  <a:srgbClr val="0F4C75"/>
                </a:solidFill>
                <a:latin typeface="Calibri" pitchFamily="34" charset="0"/>
                <a:ea typeface="Calibri" pitchFamily="34" charset="-122"/>
                <a:cs typeface="Calibri" pitchFamily="34" charset="-120"/>
              </a:rPr>
              <a:t>frequency</a:t>
            </a:r>
            <a:pPr indent="0" marL="0">
              <a:buNone/>
            </a:pPr>
            <a:r>
              <a:rPr lang="en-US" sz="1700" dirty="0">
                <a:solidFill>
                  <a:srgbClr val="1B2A41"/>
                </a:solidFill>
                <a:latin typeface="Calibri" pitchFamily="34" charset="0"/>
                <a:ea typeface="Calibri" pitchFamily="34" charset="-122"/>
                <a:cs typeface="Calibri" pitchFamily="34" charset="-120"/>
              </a:rPr>
              <a:t> and </a:t>
            </a:r>
            <a:pPr indent="0" marL="0">
              <a:buNone/>
            </a:pPr>
            <a:r>
              <a:rPr lang="en-US" sz="1700" b="1" dirty="0">
                <a:solidFill>
                  <a:srgbClr val="0F4C75"/>
                </a:solidFill>
                <a:latin typeface="Calibri" pitchFamily="34" charset="0"/>
                <a:ea typeface="Calibri" pitchFamily="34" charset="-122"/>
                <a:cs typeface="Calibri" pitchFamily="34" charset="-120"/>
              </a:rPr>
              <a:t>type</a:t>
            </a:r>
            <a:pPr indent="0" marL="0">
              <a:buNone/>
            </a:pPr>
            <a:r>
              <a:rPr lang="en-US" sz="1700" dirty="0">
                <a:solidFill>
                  <a:srgbClr val="1B2A41"/>
                </a:solidFill>
                <a:latin typeface="Calibri" pitchFamily="34" charset="0"/>
                <a:ea typeface="Calibri" pitchFamily="34" charset="-122"/>
                <a:cs typeface="Calibri" pitchFamily="34" charset="-120"/>
              </a:rPr>
              <a:t> of hallucinations when generating clinical responses?</a:t>
            </a:r>
            <a:endParaRPr lang="en-US" sz="1700" dirty="0"/>
          </a:p>
        </p:txBody>
      </p:sp>
      <p:sp>
        <p:nvSpPr>
          <p:cNvPr id="6" name="Text 3"/>
          <p:cNvSpPr/>
          <p:nvPr/>
        </p:nvSpPr>
        <p:spPr>
          <a:xfrm>
            <a:off x="457200" y="2606040"/>
            <a:ext cx="8229600" cy="365760"/>
          </a:xfrm>
          <a:prstGeom prst="rect">
            <a:avLst/>
          </a:prstGeom>
          <a:noFill/>
          <a:ln/>
        </p:spPr>
        <p:txBody>
          <a:bodyPr wrap="square" lIns="0" tIns="0" rIns="0" bIns="0" rtlCol="0" anchor="ctr"/>
          <a:lstStyle/>
          <a:p>
            <a:pPr indent="0" marL="0">
              <a:buNone/>
            </a:pPr>
            <a:r>
              <a:rPr lang="en-US" sz="2000" b="1" dirty="0">
                <a:solidFill>
                  <a:srgbClr val="0F4C75"/>
                </a:solidFill>
                <a:latin typeface="Cambria" pitchFamily="34" charset="0"/>
                <a:ea typeface="Cambria" pitchFamily="34" charset="-122"/>
                <a:cs typeface="Cambria" pitchFamily="34" charset="-120"/>
              </a:rPr>
              <a:t>Hypothesis</a:t>
            </a:r>
            <a:endParaRPr lang="en-US" sz="2000" dirty="0"/>
          </a:p>
        </p:txBody>
      </p:sp>
      <p:sp>
        <p:nvSpPr>
          <p:cNvPr id="7" name="Shape 4"/>
          <p:cNvSpPr/>
          <p:nvPr/>
        </p:nvSpPr>
        <p:spPr>
          <a:xfrm>
            <a:off x="457200" y="3108960"/>
            <a:ext cx="8229600" cy="777240"/>
          </a:xfrm>
          <a:prstGeom prst="rect">
            <a:avLst/>
          </a:prstGeom>
          <a:solidFill>
            <a:srgbClr val="FFFFFF"/>
          </a:solidFill>
          <a:ln w="12700">
            <a:solidFill>
              <a:srgbClr val="3282B8"/>
            </a:solidFill>
            <a:prstDash val="solid"/>
          </a:ln>
        </p:spPr>
      </p:sp>
      <p:sp>
        <p:nvSpPr>
          <p:cNvPr id="8" name="Shape 5"/>
          <p:cNvSpPr/>
          <p:nvPr/>
        </p:nvSpPr>
        <p:spPr>
          <a:xfrm>
            <a:off x="457200" y="3108960"/>
            <a:ext cx="73152" cy="777240"/>
          </a:xfrm>
          <a:prstGeom prst="rect">
            <a:avLst/>
          </a:prstGeom>
          <a:solidFill>
            <a:srgbClr val="3282B8"/>
          </a:solidFill>
          <a:ln/>
        </p:spPr>
      </p:sp>
      <p:sp>
        <p:nvSpPr>
          <p:cNvPr id="9" name="Text 6"/>
          <p:cNvSpPr/>
          <p:nvPr/>
        </p:nvSpPr>
        <p:spPr>
          <a:xfrm>
            <a:off x="777240" y="3200400"/>
            <a:ext cx="7680960" cy="594360"/>
          </a:xfrm>
          <a:prstGeom prst="rect">
            <a:avLst/>
          </a:prstGeom>
          <a:noFill/>
          <a:ln/>
        </p:spPr>
        <p:txBody>
          <a:bodyPr wrap="square" lIns="0" tIns="0" rIns="0" bIns="0" rtlCol="0" anchor="ctr"/>
          <a:lstStyle/>
          <a:p>
            <a:pPr indent="0" marL="0">
              <a:buNone/>
            </a:pPr>
            <a:r>
              <a:rPr lang="en-US" sz="1600" b="1" dirty="0">
                <a:solidFill>
                  <a:srgbClr val="3282B8"/>
                </a:solidFill>
                <a:latin typeface="Calibri" pitchFamily="34" charset="0"/>
                <a:ea typeface="Calibri" pitchFamily="34" charset="-122"/>
                <a:cs typeface="Calibri" pitchFamily="34" charset="-120"/>
              </a:rPr>
              <a:t>H1   </a:t>
            </a:r>
            <a:pPr indent="0" marL="0">
              <a:buNone/>
            </a:pPr>
            <a:r>
              <a:rPr lang="en-US" sz="1500" dirty="0">
                <a:solidFill>
                  <a:srgbClr val="1B2A41"/>
                </a:solidFill>
                <a:latin typeface="Calibri" pitchFamily="34" charset="0"/>
                <a:ea typeface="Calibri" pitchFamily="34" charset="-122"/>
                <a:cs typeface="Calibri" pitchFamily="34" charset="-120"/>
              </a:rPr>
              <a:t>Hallucination rates will be higher for historically marginalized groups (Black, women) than for White men.</a:t>
            </a:r>
            <a:endParaRPr lang="en-US" sz="1600" dirty="0"/>
          </a:p>
        </p:txBody>
      </p:sp>
      <p:sp>
        <p:nvSpPr>
          <p:cNvPr id="10" name="Shape 7"/>
          <p:cNvSpPr/>
          <p:nvPr/>
        </p:nvSpPr>
        <p:spPr>
          <a:xfrm>
            <a:off x="457200" y="4023360"/>
            <a:ext cx="8229600" cy="777240"/>
          </a:xfrm>
          <a:prstGeom prst="rect">
            <a:avLst/>
          </a:prstGeom>
          <a:solidFill>
            <a:srgbClr val="FFFFFF"/>
          </a:solidFill>
          <a:ln w="12700">
            <a:solidFill>
              <a:srgbClr val="00A896"/>
            </a:solidFill>
            <a:prstDash val="solid"/>
          </a:ln>
        </p:spPr>
      </p:sp>
      <p:sp>
        <p:nvSpPr>
          <p:cNvPr id="11" name="Shape 8"/>
          <p:cNvSpPr/>
          <p:nvPr/>
        </p:nvSpPr>
        <p:spPr>
          <a:xfrm>
            <a:off x="457200" y="4023360"/>
            <a:ext cx="73152" cy="777240"/>
          </a:xfrm>
          <a:prstGeom prst="rect">
            <a:avLst/>
          </a:prstGeom>
          <a:solidFill>
            <a:srgbClr val="00A896"/>
          </a:solidFill>
          <a:ln/>
        </p:spPr>
      </p:sp>
      <p:sp>
        <p:nvSpPr>
          <p:cNvPr id="12" name="Text 9"/>
          <p:cNvSpPr/>
          <p:nvPr/>
        </p:nvSpPr>
        <p:spPr>
          <a:xfrm>
            <a:off x="777240" y="4114800"/>
            <a:ext cx="7680960" cy="594360"/>
          </a:xfrm>
          <a:prstGeom prst="rect">
            <a:avLst/>
          </a:prstGeom>
          <a:noFill/>
          <a:ln/>
        </p:spPr>
        <p:txBody>
          <a:bodyPr wrap="square" lIns="0" tIns="0" rIns="0" bIns="0" rtlCol="0" anchor="ctr"/>
          <a:lstStyle/>
          <a:p>
            <a:pPr indent="0" marL="0">
              <a:buNone/>
            </a:pPr>
            <a:r>
              <a:rPr lang="en-US" sz="1600" b="1" dirty="0">
                <a:solidFill>
                  <a:srgbClr val="00A896"/>
                </a:solidFill>
                <a:latin typeface="Calibri" pitchFamily="34" charset="0"/>
                <a:ea typeface="Calibri" pitchFamily="34" charset="-122"/>
                <a:cs typeface="Calibri" pitchFamily="34" charset="-120"/>
              </a:rPr>
              <a:t>H2   </a:t>
            </a:r>
            <a:pPr indent="0" marL="0">
              <a:buNone/>
            </a:pPr>
            <a:r>
              <a:rPr lang="en-US" sz="1500" dirty="0">
                <a:solidFill>
                  <a:srgbClr val="1B2A41"/>
                </a:solidFill>
                <a:latin typeface="Calibri" pitchFamily="34" charset="0"/>
                <a:ea typeface="Calibri" pitchFamily="34" charset="-122"/>
                <a:cs typeface="Calibri" pitchFamily="34" charset="-120"/>
              </a:rPr>
              <a:t>Disparities will persist even on questions where demographics are clinically irrelevant—indicating bias rather than legitimate clinical reasoning.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3000" b="1" dirty="0">
                <a:solidFill>
                  <a:srgbClr val="0F4C75"/>
                </a:solidFill>
                <a:latin typeface="Cambria" pitchFamily="34" charset="0"/>
                <a:ea typeface="Cambria" pitchFamily="34" charset="-122"/>
                <a:cs typeface="Cambria" pitchFamily="34" charset="-120"/>
              </a:rPr>
              <a:t>Study Design Overview</a:t>
            </a:r>
            <a:endParaRPr lang="en-US" sz="3000" dirty="0"/>
          </a:p>
        </p:txBody>
      </p:sp>
      <p:sp>
        <p:nvSpPr>
          <p:cNvPr id="3" name="Text 1"/>
          <p:cNvSpPr/>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A6F84"/>
                </a:solidFill>
                <a:latin typeface="Calibri" pitchFamily="34" charset="0"/>
                <a:ea typeface="Calibri" pitchFamily="34" charset="-122"/>
                <a:cs typeface="Calibri" pitchFamily="34" charset="-120"/>
              </a:rPr>
              <a:t>Four-step pipeline: 20 vignettes × 4 demographics = 80 responses, evaluated by an LLM judge.</a:t>
            </a:r>
            <a:endParaRPr lang="en-US" sz="1400" dirty="0"/>
          </a:p>
        </p:txBody>
      </p:sp>
      <p:sp>
        <p:nvSpPr>
          <p:cNvPr id="4" name="Shape 2"/>
          <p:cNvSpPr/>
          <p:nvPr/>
        </p:nvSpPr>
        <p:spPr>
          <a:xfrm>
            <a:off x="457200" y="1325880"/>
            <a:ext cx="1828800" cy="2468880"/>
          </a:xfrm>
          <a:prstGeom prst="rect">
            <a:avLst/>
          </a:prstGeom>
          <a:solidFill>
            <a:srgbClr val="F5F9FC"/>
          </a:solidFill>
          <a:ln w="15240">
            <a:solidFill>
              <a:srgbClr val="0F4C75"/>
            </a:solidFill>
            <a:prstDash val="solid"/>
          </a:ln>
        </p:spPr>
      </p:sp>
      <p:sp>
        <p:nvSpPr>
          <p:cNvPr id="5" name="Shape 3"/>
          <p:cNvSpPr/>
          <p:nvPr/>
        </p:nvSpPr>
        <p:spPr>
          <a:xfrm>
            <a:off x="457200" y="1325880"/>
            <a:ext cx="1828800" cy="777240"/>
          </a:xfrm>
          <a:prstGeom prst="rect">
            <a:avLst/>
          </a:prstGeom>
          <a:solidFill>
            <a:srgbClr val="0F4C75"/>
          </a:solidFill>
          <a:ln/>
        </p:spPr>
      </p:sp>
      <p:sp>
        <p:nvSpPr>
          <p:cNvPr id="6" name="Text 4"/>
          <p:cNvSpPr/>
          <p:nvPr/>
        </p:nvSpPr>
        <p:spPr>
          <a:xfrm>
            <a:off x="1783080" y="1371600"/>
            <a:ext cx="4572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pic>
        <p:nvPicPr>
          <p:cNvPr id="7" name="Image 0" descr="/home/claude/work/slides_v2/icons/step1_white.png">    </p:cNvPr>
          <p:cNvPicPr>
            <a:picLocks noChangeAspect="1"/>
          </p:cNvPicPr>
          <p:nvPr/>
        </p:nvPicPr>
        <p:blipFill>
          <a:blip r:embed="rId1"/>
          <a:stretch>
            <a:fillRect/>
          </a:stretch>
        </p:blipFill>
        <p:spPr>
          <a:xfrm>
            <a:off x="594360" y="1490472"/>
            <a:ext cx="457200" cy="457200"/>
          </a:xfrm>
          <a:prstGeom prst="rect">
            <a:avLst/>
          </a:prstGeom>
        </p:spPr>
      </p:pic>
      <p:sp>
        <p:nvSpPr>
          <p:cNvPr id="8" name="Text 5"/>
          <p:cNvSpPr/>
          <p:nvPr/>
        </p:nvSpPr>
        <p:spPr>
          <a:xfrm>
            <a:off x="1097280" y="1490472"/>
            <a:ext cx="1051560" cy="45720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Vignettes</a:t>
            </a:r>
            <a:endParaRPr lang="en-US" sz="1300" dirty="0"/>
          </a:p>
        </p:txBody>
      </p:sp>
      <p:sp>
        <p:nvSpPr>
          <p:cNvPr id="9" name="Text 6"/>
          <p:cNvSpPr/>
          <p:nvPr/>
        </p:nvSpPr>
        <p:spPr>
          <a:xfrm>
            <a:off x="594360" y="2240280"/>
            <a:ext cx="1554480" cy="146304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20 self-authored</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clinical cases</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(12 neutral + 8 sensitive)</a:t>
            </a:r>
            <a:endParaRPr lang="en-US" sz="1300" dirty="0"/>
          </a:p>
        </p:txBody>
      </p:sp>
      <p:sp>
        <p:nvSpPr>
          <p:cNvPr id="10" name="Shape 7"/>
          <p:cNvSpPr/>
          <p:nvPr/>
        </p:nvSpPr>
        <p:spPr>
          <a:xfrm>
            <a:off x="2468880" y="1325880"/>
            <a:ext cx="1828800" cy="2468880"/>
          </a:xfrm>
          <a:prstGeom prst="rect">
            <a:avLst/>
          </a:prstGeom>
          <a:solidFill>
            <a:srgbClr val="F5F9FC"/>
          </a:solidFill>
          <a:ln w="15240">
            <a:solidFill>
              <a:srgbClr val="3282B8"/>
            </a:solidFill>
            <a:prstDash val="solid"/>
          </a:ln>
        </p:spPr>
      </p:sp>
      <p:sp>
        <p:nvSpPr>
          <p:cNvPr id="11" name="Shape 8"/>
          <p:cNvSpPr/>
          <p:nvPr/>
        </p:nvSpPr>
        <p:spPr>
          <a:xfrm>
            <a:off x="2468880" y="1325880"/>
            <a:ext cx="1828800" cy="777240"/>
          </a:xfrm>
          <a:prstGeom prst="rect">
            <a:avLst/>
          </a:prstGeom>
          <a:solidFill>
            <a:srgbClr val="3282B8"/>
          </a:solidFill>
          <a:ln/>
        </p:spPr>
      </p:sp>
      <p:sp>
        <p:nvSpPr>
          <p:cNvPr id="12" name="Text 9"/>
          <p:cNvSpPr/>
          <p:nvPr/>
        </p:nvSpPr>
        <p:spPr>
          <a:xfrm>
            <a:off x="3794760" y="1371600"/>
            <a:ext cx="4572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pic>
        <p:nvPicPr>
          <p:cNvPr id="13" name="Image 1" descr="/home/claude/work/slides_v2/icons/step2_white.png">    </p:cNvPr>
          <p:cNvPicPr>
            <a:picLocks noChangeAspect="1"/>
          </p:cNvPicPr>
          <p:nvPr/>
        </p:nvPicPr>
        <p:blipFill>
          <a:blip r:embed="rId2"/>
          <a:stretch>
            <a:fillRect/>
          </a:stretch>
        </p:blipFill>
        <p:spPr>
          <a:xfrm>
            <a:off x="2606040" y="1490472"/>
            <a:ext cx="457200" cy="457200"/>
          </a:xfrm>
          <a:prstGeom prst="rect">
            <a:avLst/>
          </a:prstGeom>
        </p:spPr>
      </p:pic>
      <p:sp>
        <p:nvSpPr>
          <p:cNvPr id="14" name="Text 10"/>
          <p:cNvSpPr/>
          <p:nvPr/>
        </p:nvSpPr>
        <p:spPr>
          <a:xfrm>
            <a:off x="3108960" y="1490472"/>
            <a:ext cx="1051560" cy="45720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Perturb</a:t>
            </a:r>
            <a:endParaRPr lang="en-US" sz="1300" dirty="0"/>
          </a:p>
        </p:txBody>
      </p:sp>
      <p:sp>
        <p:nvSpPr>
          <p:cNvPr id="15" name="Text 11"/>
          <p:cNvSpPr/>
          <p:nvPr/>
        </p:nvSpPr>
        <p:spPr>
          <a:xfrm>
            <a:off x="2606040" y="2240280"/>
            <a:ext cx="1554480" cy="146304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Apply 4 demographic</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combinations:</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Black/White × W/M</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 80 prompts</a:t>
            </a:r>
            <a:endParaRPr lang="en-US" sz="1300" dirty="0"/>
          </a:p>
        </p:txBody>
      </p:sp>
      <p:sp>
        <p:nvSpPr>
          <p:cNvPr id="16" name="Shape 12"/>
          <p:cNvSpPr/>
          <p:nvPr/>
        </p:nvSpPr>
        <p:spPr>
          <a:xfrm>
            <a:off x="4480560" y="1325880"/>
            <a:ext cx="1828800" cy="2468880"/>
          </a:xfrm>
          <a:prstGeom prst="rect">
            <a:avLst/>
          </a:prstGeom>
          <a:solidFill>
            <a:srgbClr val="F5F9FC"/>
          </a:solidFill>
          <a:ln w="15240">
            <a:solidFill>
              <a:srgbClr val="86C5DA"/>
            </a:solidFill>
            <a:prstDash val="solid"/>
          </a:ln>
        </p:spPr>
      </p:sp>
      <p:sp>
        <p:nvSpPr>
          <p:cNvPr id="17" name="Shape 13"/>
          <p:cNvSpPr/>
          <p:nvPr/>
        </p:nvSpPr>
        <p:spPr>
          <a:xfrm>
            <a:off x="4480560" y="1325880"/>
            <a:ext cx="1828800" cy="777240"/>
          </a:xfrm>
          <a:prstGeom prst="rect">
            <a:avLst/>
          </a:prstGeom>
          <a:solidFill>
            <a:srgbClr val="86C5DA"/>
          </a:solidFill>
          <a:ln/>
        </p:spPr>
      </p:sp>
      <p:sp>
        <p:nvSpPr>
          <p:cNvPr id="18" name="Text 14"/>
          <p:cNvSpPr/>
          <p:nvPr/>
        </p:nvSpPr>
        <p:spPr>
          <a:xfrm>
            <a:off x="5806440" y="1371600"/>
            <a:ext cx="4572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pic>
        <p:nvPicPr>
          <p:cNvPr id="19" name="Image 2" descr="/home/claude/work/slides_v2/icons/step3_white.png">    </p:cNvPr>
          <p:cNvPicPr>
            <a:picLocks noChangeAspect="1"/>
          </p:cNvPicPr>
          <p:nvPr/>
        </p:nvPicPr>
        <p:blipFill>
          <a:blip r:embed="rId3"/>
          <a:stretch>
            <a:fillRect/>
          </a:stretch>
        </p:blipFill>
        <p:spPr>
          <a:xfrm>
            <a:off x="4617720" y="1490472"/>
            <a:ext cx="457200" cy="457200"/>
          </a:xfrm>
          <a:prstGeom prst="rect">
            <a:avLst/>
          </a:prstGeom>
        </p:spPr>
      </p:pic>
      <p:sp>
        <p:nvSpPr>
          <p:cNvPr id="20" name="Text 15"/>
          <p:cNvSpPr/>
          <p:nvPr/>
        </p:nvSpPr>
        <p:spPr>
          <a:xfrm>
            <a:off x="5120640" y="1490472"/>
            <a:ext cx="1051560" cy="45720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Generate</a:t>
            </a:r>
            <a:endParaRPr lang="en-US" sz="1300" dirty="0"/>
          </a:p>
        </p:txBody>
      </p:sp>
      <p:sp>
        <p:nvSpPr>
          <p:cNvPr id="21" name="Text 16"/>
          <p:cNvSpPr/>
          <p:nvPr/>
        </p:nvSpPr>
        <p:spPr>
          <a:xfrm>
            <a:off x="4617720" y="2240280"/>
            <a:ext cx="1554480" cy="146304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Subject model:</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GPT-4o-mini</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 80 responses</a:t>
            </a:r>
            <a:endParaRPr lang="en-US" sz="1300" dirty="0"/>
          </a:p>
        </p:txBody>
      </p:sp>
      <p:sp>
        <p:nvSpPr>
          <p:cNvPr id="22" name="Shape 17"/>
          <p:cNvSpPr/>
          <p:nvPr/>
        </p:nvSpPr>
        <p:spPr>
          <a:xfrm>
            <a:off x="6492240" y="1325880"/>
            <a:ext cx="1828800" cy="2468880"/>
          </a:xfrm>
          <a:prstGeom prst="rect">
            <a:avLst/>
          </a:prstGeom>
          <a:solidFill>
            <a:srgbClr val="F5F9FC"/>
          </a:solidFill>
          <a:ln w="15240">
            <a:solidFill>
              <a:srgbClr val="00A896"/>
            </a:solidFill>
            <a:prstDash val="solid"/>
          </a:ln>
        </p:spPr>
      </p:sp>
      <p:sp>
        <p:nvSpPr>
          <p:cNvPr id="23" name="Shape 18"/>
          <p:cNvSpPr/>
          <p:nvPr/>
        </p:nvSpPr>
        <p:spPr>
          <a:xfrm>
            <a:off x="6492240" y="1325880"/>
            <a:ext cx="1828800" cy="777240"/>
          </a:xfrm>
          <a:prstGeom prst="rect">
            <a:avLst/>
          </a:prstGeom>
          <a:solidFill>
            <a:srgbClr val="00A896"/>
          </a:solidFill>
          <a:ln/>
        </p:spPr>
      </p:sp>
      <p:sp>
        <p:nvSpPr>
          <p:cNvPr id="24" name="Text 19"/>
          <p:cNvSpPr/>
          <p:nvPr/>
        </p:nvSpPr>
        <p:spPr>
          <a:xfrm>
            <a:off x="7818120" y="1371600"/>
            <a:ext cx="4572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pic>
        <p:nvPicPr>
          <p:cNvPr id="25" name="Image 3" descr="/home/claude/work/slides_v2/icons/step4_white.png">    </p:cNvPr>
          <p:cNvPicPr>
            <a:picLocks noChangeAspect="1"/>
          </p:cNvPicPr>
          <p:nvPr/>
        </p:nvPicPr>
        <p:blipFill>
          <a:blip r:embed="rId4"/>
          <a:stretch>
            <a:fillRect/>
          </a:stretch>
        </p:blipFill>
        <p:spPr>
          <a:xfrm>
            <a:off x="6629400" y="1490472"/>
            <a:ext cx="457200" cy="457200"/>
          </a:xfrm>
          <a:prstGeom prst="rect">
            <a:avLst/>
          </a:prstGeom>
        </p:spPr>
      </p:pic>
      <p:sp>
        <p:nvSpPr>
          <p:cNvPr id="26" name="Text 20"/>
          <p:cNvSpPr/>
          <p:nvPr/>
        </p:nvSpPr>
        <p:spPr>
          <a:xfrm>
            <a:off x="7132320" y="1490472"/>
            <a:ext cx="1051560" cy="45720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Judge</a:t>
            </a:r>
            <a:endParaRPr lang="en-US" sz="1300" dirty="0"/>
          </a:p>
        </p:txBody>
      </p:sp>
      <p:sp>
        <p:nvSpPr>
          <p:cNvPr id="27" name="Text 21"/>
          <p:cNvSpPr/>
          <p:nvPr/>
        </p:nvSpPr>
        <p:spPr>
          <a:xfrm>
            <a:off x="6629400" y="2240280"/>
            <a:ext cx="1554480" cy="146304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Judge model:</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GPT-4o w/ MedHalu</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rubric → ratings</a:t>
            </a:r>
            <a:endParaRPr lang="en-US" sz="1300" dirty="0"/>
          </a:p>
        </p:txBody>
      </p:sp>
      <p:sp>
        <p:nvSpPr>
          <p:cNvPr id="28" name="Shape 22"/>
          <p:cNvSpPr/>
          <p:nvPr/>
        </p:nvSpPr>
        <p:spPr>
          <a:xfrm>
            <a:off x="457200" y="4069080"/>
            <a:ext cx="8229600" cy="777240"/>
          </a:xfrm>
          <a:prstGeom prst="rect">
            <a:avLst/>
          </a:prstGeom>
          <a:solidFill>
            <a:srgbClr val="F5F9FC"/>
          </a:solidFill>
          <a:ln w="12700">
            <a:solidFill>
              <a:srgbClr val="D5DEE8"/>
            </a:solidFill>
            <a:prstDash val="solid"/>
          </a:ln>
        </p:spPr>
      </p:sp>
      <p:sp>
        <p:nvSpPr>
          <p:cNvPr id="29" name="Text 23"/>
          <p:cNvSpPr/>
          <p:nvPr/>
        </p:nvSpPr>
        <p:spPr>
          <a:xfrm>
            <a:off x="640080" y="4160520"/>
            <a:ext cx="7863840" cy="640080"/>
          </a:xfrm>
          <a:prstGeom prst="rect">
            <a:avLst/>
          </a:prstGeom>
          <a:noFill/>
          <a:ln/>
        </p:spPr>
        <p:txBody>
          <a:bodyPr wrap="square" lIns="0" tIns="0" rIns="0" bIns="0" rtlCol="0" anchor="ctr"/>
          <a:lstStyle/>
          <a:p>
            <a:pPr indent="0" marL="0">
              <a:buNone/>
            </a:pPr>
            <a:r>
              <a:rPr lang="en-US" sz="1300" b="1" dirty="0">
                <a:solidFill>
                  <a:srgbClr val="0F4C75"/>
                </a:solidFill>
                <a:latin typeface="Calibri" pitchFamily="34" charset="0"/>
                <a:ea typeface="Calibri" pitchFamily="34" charset="-122"/>
                <a:cs typeface="Calibri" pitchFamily="34" charset="-120"/>
              </a:rPr>
              <a:t>Why split subject and judge into different models?  </a:t>
            </a:r>
            <a:pPr indent="0" marL="0">
              <a:buNone/>
            </a:pPr>
            <a:r>
              <a:rPr lang="en-US" sz="1300" dirty="0">
                <a:solidFill>
                  <a:srgbClr val="5A6F84"/>
                </a:solidFill>
                <a:latin typeface="Calibri" pitchFamily="34" charset="0"/>
                <a:ea typeface="Calibri" pitchFamily="34" charset="-122"/>
                <a:cs typeface="Calibri" pitchFamily="34" charset="-120"/>
              </a:rPr>
              <a:t>Using GPT-4o-mini as subject and GPT-4o as judge avoids self-evaluation bias and gives stronger evaluation reliability (Zheng et al., 2023).</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3000" b="1" dirty="0">
                <a:solidFill>
                  <a:srgbClr val="0F4C75"/>
                </a:solidFill>
                <a:latin typeface="Cambria" pitchFamily="34" charset="0"/>
                <a:ea typeface="Cambria" pitchFamily="34" charset="-122"/>
                <a:cs typeface="Cambria" pitchFamily="34" charset="-120"/>
              </a:rPr>
              <a:t>Question Design: Two Sets</a:t>
            </a:r>
            <a:endParaRPr lang="en-US" sz="3000" dirty="0"/>
          </a:p>
        </p:txBody>
      </p:sp>
      <p:sp>
        <p:nvSpPr>
          <p:cNvPr id="3" name="Text 1"/>
          <p:cNvSpPr/>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A6F84"/>
                </a:solidFill>
                <a:latin typeface="Calibri" pitchFamily="34" charset="0"/>
                <a:ea typeface="Calibri" pitchFamily="34" charset="-122"/>
                <a:cs typeface="Calibri" pitchFamily="34" charset="-120"/>
              </a:rPr>
              <a:t>Splitting questions lets us separate legitimate clinical variation from pure bias.</a:t>
            </a:r>
            <a:endParaRPr lang="en-US" sz="1400" dirty="0"/>
          </a:p>
        </p:txBody>
      </p:sp>
      <p:sp>
        <p:nvSpPr>
          <p:cNvPr id="4" name="Shape 2"/>
          <p:cNvSpPr/>
          <p:nvPr/>
        </p:nvSpPr>
        <p:spPr>
          <a:xfrm>
            <a:off x="457200" y="1280160"/>
            <a:ext cx="4023360" cy="3383280"/>
          </a:xfrm>
          <a:prstGeom prst="rect">
            <a:avLst/>
          </a:prstGeom>
          <a:solidFill>
            <a:srgbClr val="F5F9FC"/>
          </a:solidFill>
          <a:ln w="15240">
            <a:solidFill>
              <a:srgbClr val="0F4C75"/>
            </a:solidFill>
            <a:prstDash val="solid"/>
          </a:ln>
        </p:spPr>
      </p:sp>
      <p:pic>
        <p:nvPicPr>
          <p:cNvPr id="5" name="Image 0" descr="/home/claude/work/slides_v2/icons/neutral.png">    </p:cNvPr>
          <p:cNvPicPr>
            <a:picLocks noChangeAspect="1"/>
          </p:cNvPicPr>
          <p:nvPr/>
        </p:nvPicPr>
        <p:blipFill>
          <a:blip r:embed="rId1"/>
          <a:stretch>
            <a:fillRect/>
          </a:stretch>
        </p:blipFill>
        <p:spPr>
          <a:xfrm>
            <a:off x="640080" y="1463040"/>
            <a:ext cx="502920" cy="502920"/>
          </a:xfrm>
          <a:prstGeom prst="rect">
            <a:avLst/>
          </a:prstGeom>
        </p:spPr>
      </p:pic>
      <p:sp>
        <p:nvSpPr>
          <p:cNvPr id="6" name="Text 3"/>
          <p:cNvSpPr/>
          <p:nvPr/>
        </p:nvSpPr>
        <p:spPr>
          <a:xfrm>
            <a:off x="1280160" y="1463040"/>
            <a:ext cx="3108960" cy="274320"/>
          </a:xfrm>
          <a:prstGeom prst="rect">
            <a:avLst/>
          </a:prstGeom>
          <a:noFill/>
          <a:ln/>
        </p:spPr>
        <p:txBody>
          <a:bodyPr wrap="square" lIns="0" tIns="0" rIns="0" bIns="0" rtlCol="0" anchor="ctr"/>
          <a:lstStyle/>
          <a:p>
            <a:pPr indent="0" marL="0">
              <a:buNone/>
            </a:pPr>
            <a:r>
              <a:rPr lang="en-US" sz="1300" b="1" spc="300" kern="0" dirty="0">
                <a:solidFill>
                  <a:srgbClr val="0F4C75"/>
                </a:solidFill>
                <a:latin typeface="Calibri" pitchFamily="34" charset="0"/>
                <a:ea typeface="Calibri" pitchFamily="34" charset="-122"/>
                <a:cs typeface="Calibri" pitchFamily="34" charset="-120"/>
              </a:rPr>
              <a:t>NEUTRAL SET   |   n=12</a:t>
            </a:r>
            <a:endParaRPr lang="en-US" sz="1300" dirty="0"/>
          </a:p>
        </p:txBody>
      </p:sp>
      <p:sp>
        <p:nvSpPr>
          <p:cNvPr id="7" name="Text 4"/>
          <p:cNvSpPr/>
          <p:nvPr/>
        </p:nvSpPr>
        <p:spPr>
          <a:xfrm>
            <a:off x="1280160" y="1737360"/>
            <a:ext cx="3108960" cy="274320"/>
          </a:xfrm>
          <a:prstGeom prst="rect">
            <a:avLst/>
          </a:prstGeom>
          <a:noFill/>
          <a:ln/>
        </p:spPr>
        <p:txBody>
          <a:bodyPr wrap="square" lIns="0" tIns="0" rIns="0" bIns="0" rtlCol="0" anchor="ctr"/>
          <a:lstStyle/>
          <a:p>
            <a:pPr indent="0" marL="0">
              <a:buNone/>
            </a:pPr>
            <a:r>
              <a:rPr lang="en-US" sz="1500" b="1" i="1" dirty="0">
                <a:solidFill>
                  <a:srgbClr val="1B2A41"/>
                </a:solidFill>
                <a:latin typeface="Cambria" pitchFamily="34" charset="0"/>
                <a:ea typeface="Cambria" pitchFamily="34" charset="-122"/>
                <a:cs typeface="Cambria" pitchFamily="34" charset="-120"/>
              </a:rPr>
              <a:t>Demographics should NOT affect answer</a:t>
            </a:r>
            <a:endParaRPr lang="en-US" sz="1500" dirty="0"/>
          </a:p>
        </p:txBody>
      </p:sp>
      <p:sp>
        <p:nvSpPr>
          <p:cNvPr id="8" name="Text 5"/>
          <p:cNvSpPr/>
          <p:nvPr/>
        </p:nvSpPr>
        <p:spPr>
          <a:xfrm>
            <a:off x="640080" y="2194560"/>
            <a:ext cx="3657600" cy="1828800"/>
          </a:xfrm>
          <a:prstGeom prst="rect">
            <a:avLst/>
          </a:prstGeom>
          <a:noFill/>
          <a:ln/>
        </p:spPr>
        <p:txBody>
          <a:bodyPr wrap="square" lIns="0" tIns="0" rIns="0" bIns="0" rtlCol="0" anchor="ctr"/>
          <a:lstStyle/>
          <a:p>
            <a:pPr indent="0" marL="0">
              <a:spcAft>
                <a:spcPts val="100"/>
              </a:spcAft>
              <a:buNone/>
            </a:pPr>
            <a:r>
              <a:rPr lang="en-US" sz="1200" dirty="0">
                <a:solidFill>
                  <a:srgbClr val="5A6F84"/>
                </a:solidFill>
                <a:latin typeface="Calibri" pitchFamily="34" charset="0"/>
                <a:ea typeface="Calibri" pitchFamily="34" charset="-122"/>
                <a:cs typeface="Calibri" pitchFamily="34" charset="-120"/>
              </a:rPr>
              <a:t>Generic conditions where race/gender are not clinically informative:</a:t>
            </a:r>
            <a:endParaRPr lang="en-US" sz="1200" dirty="0"/>
          </a:p>
          <a:p>
            <a:pPr indent="0" marL="0">
              <a:spcAft>
                <a:spcPts val="100"/>
              </a:spcAft>
              <a:buNone/>
            </a:pPr>
            <a:r>
              <a:rPr lang="en-US" sz="400" dirty="0">
                <a:solidFill>
                  <a:srgbClr val="000000"/>
                </a:solidFill>
              </a:rPr>
              <a:t>
</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Acute Otitis Media</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Strep Throat</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Pneumothorax</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Appendicitis</a:t>
            </a:r>
            <a:endParaRPr lang="en-US" sz="1200" dirty="0"/>
          </a:p>
          <a:p>
            <a:pPr marL="342900" indent="-342900">
              <a:spcAft>
                <a:spcPts val="100"/>
              </a:spcAft>
              <a:buSzPct val="100000"/>
              <a:buChar char="•"/>
            </a:pPr>
            <a:r>
              <a:rPr lang="en-US" sz="1200" i="1" dirty="0">
                <a:solidFill>
                  <a:srgbClr val="5A6F84"/>
                </a:solidFill>
                <a:latin typeface="Calibri" pitchFamily="34" charset="0"/>
                <a:ea typeface="Calibri" pitchFamily="34" charset="-122"/>
                <a:cs typeface="Calibri" pitchFamily="34" charset="-120"/>
              </a:rPr>
              <a:t>...and 8 more</a:t>
            </a:r>
            <a:endParaRPr lang="en-US" sz="1200" dirty="0"/>
          </a:p>
        </p:txBody>
      </p:sp>
      <p:sp>
        <p:nvSpPr>
          <p:cNvPr id="9" name="Text 6"/>
          <p:cNvSpPr/>
          <p:nvPr/>
        </p:nvSpPr>
        <p:spPr>
          <a:xfrm>
            <a:off x="640080" y="4160520"/>
            <a:ext cx="3657600" cy="365760"/>
          </a:xfrm>
          <a:prstGeom prst="rect">
            <a:avLst/>
          </a:prstGeom>
          <a:noFill/>
          <a:ln/>
        </p:spPr>
        <p:txBody>
          <a:bodyPr wrap="square" lIns="0" tIns="0" rIns="0" bIns="0" rtlCol="0" anchor="ctr"/>
          <a:lstStyle/>
          <a:p>
            <a:pPr indent="0" marL="0">
              <a:buNone/>
            </a:pPr>
            <a:r>
              <a:rPr lang="en-US" sz="1300" b="1" i="1" dirty="0">
                <a:solidFill>
                  <a:srgbClr val="0F4C75"/>
                </a:solidFill>
                <a:latin typeface="Calibri" pitchFamily="34" charset="0"/>
                <a:ea typeface="Calibri" pitchFamily="34" charset="-122"/>
                <a:cs typeface="Calibri" pitchFamily="34" charset="-120"/>
              </a:rPr>
              <a:t>→  Disparity here = pure bias signal</a:t>
            </a:r>
            <a:endParaRPr lang="en-US" sz="1300" dirty="0"/>
          </a:p>
        </p:txBody>
      </p:sp>
      <p:sp>
        <p:nvSpPr>
          <p:cNvPr id="10" name="Shape 7"/>
          <p:cNvSpPr/>
          <p:nvPr/>
        </p:nvSpPr>
        <p:spPr>
          <a:xfrm>
            <a:off x="4663440" y="1280160"/>
            <a:ext cx="4023360" cy="3383280"/>
          </a:xfrm>
          <a:prstGeom prst="rect">
            <a:avLst/>
          </a:prstGeom>
          <a:solidFill>
            <a:srgbClr val="F5F9FC"/>
          </a:solidFill>
          <a:ln w="15240">
            <a:solidFill>
              <a:srgbClr val="00A896"/>
            </a:solidFill>
            <a:prstDash val="solid"/>
          </a:ln>
        </p:spPr>
      </p:sp>
      <p:pic>
        <p:nvPicPr>
          <p:cNvPr id="11" name="Image 1" descr="/home/claude/work/slides_v2/icons/sensitive.png">    </p:cNvPr>
          <p:cNvPicPr>
            <a:picLocks noChangeAspect="1"/>
          </p:cNvPicPr>
          <p:nvPr/>
        </p:nvPicPr>
        <p:blipFill>
          <a:blip r:embed="rId2"/>
          <a:stretch>
            <a:fillRect/>
          </a:stretch>
        </p:blipFill>
        <p:spPr>
          <a:xfrm>
            <a:off x="4846320" y="1463040"/>
            <a:ext cx="502920" cy="502920"/>
          </a:xfrm>
          <a:prstGeom prst="rect">
            <a:avLst/>
          </a:prstGeom>
        </p:spPr>
      </p:pic>
      <p:sp>
        <p:nvSpPr>
          <p:cNvPr id="12" name="Text 8"/>
          <p:cNvSpPr/>
          <p:nvPr/>
        </p:nvSpPr>
        <p:spPr>
          <a:xfrm>
            <a:off x="5486400" y="1463040"/>
            <a:ext cx="3108960" cy="274320"/>
          </a:xfrm>
          <a:prstGeom prst="rect">
            <a:avLst/>
          </a:prstGeom>
          <a:noFill/>
          <a:ln/>
        </p:spPr>
        <p:txBody>
          <a:bodyPr wrap="square" lIns="0" tIns="0" rIns="0" bIns="0" rtlCol="0" anchor="ctr"/>
          <a:lstStyle/>
          <a:p>
            <a:pPr indent="0" marL="0">
              <a:buNone/>
            </a:pPr>
            <a:r>
              <a:rPr lang="en-US" sz="1300" b="1" spc="300" kern="0" dirty="0">
                <a:solidFill>
                  <a:srgbClr val="00A896"/>
                </a:solidFill>
                <a:latin typeface="Calibri" pitchFamily="34" charset="0"/>
                <a:ea typeface="Calibri" pitchFamily="34" charset="-122"/>
                <a:cs typeface="Calibri" pitchFamily="34" charset="-120"/>
              </a:rPr>
              <a:t>SENSITIVE SET   |   n=8</a:t>
            </a:r>
            <a:endParaRPr lang="en-US" sz="1300" dirty="0"/>
          </a:p>
        </p:txBody>
      </p:sp>
      <p:sp>
        <p:nvSpPr>
          <p:cNvPr id="13" name="Text 9"/>
          <p:cNvSpPr/>
          <p:nvPr/>
        </p:nvSpPr>
        <p:spPr>
          <a:xfrm>
            <a:off x="5486400" y="1737360"/>
            <a:ext cx="3108960" cy="274320"/>
          </a:xfrm>
          <a:prstGeom prst="rect">
            <a:avLst/>
          </a:prstGeom>
          <a:noFill/>
          <a:ln/>
        </p:spPr>
        <p:txBody>
          <a:bodyPr wrap="square" lIns="0" tIns="0" rIns="0" bIns="0" rtlCol="0" anchor="ctr"/>
          <a:lstStyle/>
          <a:p>
            <a:pPr indent="0" marL="0">
              <a:buNone/>
            </a:pPr>
            <a:r>
              <a:rPr lang="en-US" sz="1500" b="1" i="1" dirty="0">
                <a:solidFill>
                  <a:srgbClr val="1B2A41"/>
                </a:solidFill>
                <a:latin typeface="Cambria" pitchFamily="34" charset="0"/>
                <a:ea typeface="Cambria" pitchFamily="34" charset="-122"/>
                <a:cs typeface="Cambria" pitchFamily="34" charset="-120"/>
              </a:rPr>
              <a:t>Demographics LEGITIMATELY matter</a:t>
            </a:r>
            <a:endParaRPr lang="en-US" sz="1500" dirty="0"/>
          </a:p>
        </p:txBody>
      </p:sp>
      <p:sp>
        <p:nvSpPr>
          <p:cNvPr id="14" name="Text 10"/>
          <p:cNvSpPr/>
          <p:nvPr/>
        </p:nvSpPr>
        <p:spPr>
          <a:xfrm>
            <a:off x="4846320" y="2194560"/>
            <a:ext cx="3657600" cy="1828800"/>
          </a:xfrm>
          <a:prstGeom prst="rect">
            <a:avLst/>
          </a:prstGeom>
          <a:noFill/>
          <a:ln/>
        </p:spPr>
        <p:txBody>
          <a:bodyPr wrap="square" lIns="0" tIns="0" rIns="0" bIns="0" rtlCol="0" anchor="ctr"/>
          <a:lstStyle/>
          <a:p>
            <a:pPr indent="0" marL="0">
              <a:spcAft>
                <a:spcPts val="100"/>
              </a:spcAft>
              <a:buNone/>
            </a:pPr>
            <a:r>
              <a:rPr lang="en-US" sz="1200" dirty="0">
                <a:solidFill>
                  <a:srgbClr val="5A6F84"/>
                </a:solidFill>
                <a:latin typeface="Calibri" pitchFamily="34" charset="0"/>
                <a:ea typeface="Calibri" pitchFamily="34" charset="-122"/>
                <a:cs typeface="Calibri" pitchFamily="34" charset="-120"/>
              </a:rPr>
              <a:t>Conditions with known demographic risk factors:</a:t>
            </a:r>
            <a:endParaRPr lang="en-US" sz="1200" dirty="0"/>
          </a:p>
          <a:p>
            <a:pPr indent="0" marL="0">
              <a:spcAft>
                <a:spcPts val="100"/>
              </a:spcAft>
              <a:buNone/>
            </a:pPr>
            <a:r>
              <a:rPr lang="en-US" sz="400" dirty="0">
                <a:solidFill>
                  <a:srgbClr val="000000"/>
                </a:solidFill>
              </a:rPr>
              <a:t>
</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Sickle Cell Crisis</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Cystic Fibrosis</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Endometriosis</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Cardiomyopathy / Heart Failure</a:t>
            </a:r>
            <a:endParaRPr lang="en-US" sz="1200" dirty="0"/>
          </a:p>
          <a:p>
            <a:pPr marL="342900" indent="-342900">
              <a:spcAft>
                <a:spcPts val="100"/>
              </a:spcAft>
              <a:buSzPct val="100000"/>
              <a:buChar char="•"/>
            </a:pPr>
            <a:r>
              <a:rPr lang="en-US" sz="1200" i="1" dirty="0">
                <a:solidFill>
                  <a:srgbClr val="5A6F84"/>
                </a:solidFill>
                <a:latin typeface="Calibri" pitchFamily="34" charset="0"/>
                <a:ea typeface="Calibri" pitchFamily="34" charset="-122"/>
                <a:cs typeface="Calibri" pitchFamily="34" charset="-120"/>
              </a:rPr>
              <a:t>...and 4 more</a:t>
            </a:r>
            <a:endParaRPr lang="en-US" sz="1200" dirty="0"/>
          </a:p>
        </p:txBody>
      </p:sp>
      <p:sp>
        <p:nvSpPr>
          <p:cNvPr id="15" name="Text 11"/>
          <p:cNvSpPr/>
          <p:nvPr/>
        </p:nvSpPr>
        <p:spPr>
          <a:xfrm>
            <a:off x="4846320" y="4160520"/>
            <a:ext cx="3657600" cy="365760"/>
          </a:xfrm>
          <a:prstGeom prst="rect">
            <a:avLst/>
          </a:prstGeom>
          <a:noFill/>
          <a:ln/>
        </p:spPr>
        <p:txBody>
          <a:bodyPr wrap="square" lIns="0" tIns="0" rIns="0" bIns="0" rtlCol="0" anchor="ctr"/>
          <a:lstStyle/>
          <a:p>
            <a:pPr indent="0" marL="0">
              <a:buNone/>
            </a:pPr>
            <a:r>
              <a:rPr lang="en-US" sz="1300" b="1" i="1" dirty="0">
                <a:solidFill>
                  <a:srgbClr val="00A896"/>
                </a:solidFill>
                <a:latin typeface="Calibri" pitchFamily="34" charset="0"/>
                <a:ea typeface="Calibri" pitchFamily="34" charset="-122"/>
                <a:cs typeface="Calibri" pitchFamily="34" charset="-120"/>
              </a:rPr>
              <a:t>→  Disparity here is not necessarily bias</a:t>
            </a:r>
            <a:endParaRPr lang="en-US" sz="1300" dirty="0"/>
          </a:p>
        </p:txBody>
      </p:sp>
      <p:pic>
        <p:nvPicPr>
          <p:cNvPr id="16" name="Image 2" descr="/home/claude/work/slides_v2/images/slide5_doctor.jpg">    </p:cNvPr>
          <p:cNvPicPr>
            <a:picLocks noChangeAspect="1"/>
          </p:cNvPicPr>
          <p:nvPr/>
        </p:nvPicPr>
        <p:blipFill>
          <a:blip r:embed="rId3"/>
          <a:srcRect l="0" r="0" t="0" b="0"/>
          <a:stretch/>
        </p:blipFill>
        <p:spPr>
          <a:xfrm>
            <a:off x="2880360" y="4526280"/>
            <a:ext cx="3383280" cy="502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0F4C75"/>
                </a:solidFill>
                <a:latin typeface="Cambria" pitchFamily="34" charset="0"/>
                <a:ea typeface="Cambria" pitchFamily="34" charset="-122"/>
                <a:cs typeface="Cambria" pitchFamily="34" charset="-120"/>
              </a:rPr>
              <a:t>Hallucination Taxonomy &amp; Judge Rubric</a:t>
            </a:r>
            <a:endParaRPr lang="en-US" sz="2600" dirty="0"/>
          </a:p>
        </p:txBody>
      </p:sp>
      <p:sp>
        <p:nvSpPr>
          <p:cNvPr id="3" name="Text 1"/>
          <p:cNvSpPr/>
          <p:nvPr/>
        </p:nvSpPr>
        <p:spPr>
          <a:xfrm>
            <a:off x="457200" y="777240"/>
            <a:ext cx="8229600" cy="274320"/>
          </a:xfrm>
          <a:prstGeom prst="rect">
            <a:avLst/>
          </a:prstGeom>
          <a:noFill/>
          <a:ln/>
        </p:spPr>
        <p:txBody>
          <a:bodyPr wrap="square" lIns="0" tIns="0" rIns="0" bIns="0" rtlCol="0" anchor="ctr"/>
          <a:lstStyle/>
          <a:p>
            <a:pPr indent="0" marL="0">
              <a:buNone/>
            </a:pPr>
            <a:r>
              <a:rPr lang="en-US" sz="1300" i="1" dirty="0">
                <a:solidFill>
                  <a:srgbClr val="5A6F84"/>
                </a:solidFill>
                <a:latin typeface="Calibri" pitchFamily="34" charset="0"/>
                <a:ea typeface="Calibri" pitchFamily="34" charset="-122"/>
                <a:cs typeface="Calibri" pitchFamily="34" charset="-120"/>
              </a:rPr>
              <a:t>Adapted from MedHalu (Agarwal et al., 2024) and EquityMedQA (Pfohl et al., 2024)</a:t>
            </a:r>
            <a:endParaRPr lang="en-US" sz="1300" dirty="0"/>
          </a:p>
        </p:txBody>
      </p:sp>
      <p:sp>
        <p:nvSpPr>
          <p:cNvPr id="4" name="Shape 2"/>
          <p:cNvSpPr/>
          <p:nvPr/>
        </p:nvSpPr>
        <p:spPr>
          <a:xfrm>
            <a:off x="457200" y="1188720"/>
            <a:ext cx="2606040" cy="1874520"/>
          </a:xfrm>
          <a:prstGeom prst="rect">
            <a:avLst/>
          </a:prstGeom>
          <a:solidFill>
            <a:srgbClr val="F5F9FC"/>
          </a:solidFill>
          <a:ln w="15240">
            <a:solidFill>
              <a:srgbClr val="0F4C75"/>
            </a:solidFill>
            <a:prstDash val="solid"/>
          </a:ln>
        </p:spPr>
      </p:sp>
      <p:sp>
        <p:nvSpPr>
          <p:cNvPr id="5" name="Shape 3"/>
          <p:cNvSpPr/>
          <p:nvPr/>
        </p:nvSpPr>
        <p:spPr>
          <a:xfrm>
            <a:off x="457200" y="1188720"/>
            <a:ext cx="2606040" cy="594360"/>
          </a:xfrm>
          <a:prstGeom prst="rect">
            <a:avLst/>
          </a:prstGeom>
          <a:solidFill>
            <a:srgbClr val="0F4C75"/>
          </a:solidFill>
          <a:ln/>
        </p:spPr>
      </p:sp>
      <p:pic>
        <p:nvPicPr>
          <p:cNvPr id="6" name="Image 0" descr="/home/claude/work/slides_v2/icons/factual_white.png">    </p:cNvPr>
          <p:cNvPicPr>
            <a:picLocks noChangeAspect="1"/>
          </p:cNvPicPr>
          <p:nvPr/>
        </p:nvPicPr>
        <p:blipFill>
          <a:blip r:embed="rId1"/>
          <a:stretch>
            <a:fillRect/>
          </a:stretch>
        </p:blipFill>
        <p:spPr>
          <a:xfrm>
            <a:off x="640080" y="1325880"/>
            <a:ext cx="320040" cy="320040"/>
          </a:xfrm>
          <a:prstGeom prst="rect">
            <a:avLst/>
          </a:prstGeom>
        </p:spPr>
      </p:pic>
      <p:sp>
        <p:nvSpPr>
          <p:cNvPr id="7" name="Text 4"/>
          <p:cNvSpPr/>
          <p:nvPr/>
        </p:nvSpPr>
        <p:spPr>
          <a:xfrm>
            <a:off x="960120" y="1280160"/>
            <a:ext cx="2011680" cy="411480"/>
          </a:xfrm>
          <a:prstGeom prst="rect">
            <a:avLst/>
          </a:prstGeom>
          <a:noFill/>
          <a:ln/>
        </p:spPr>
        <p:txBody>
          <a:bodyPr wrap="square" lIns="0" tIns="0" rIns="0" bIns="0" rtlCol="0" anchor="ctr"/>
          <a:lstStyle/>
          <a:p>
            <a:pPr indent="0" marL="0">
              <a:buNone/>
            </a:pPr>
            <a:r>
              <a:rPr lang="en-US" sz="1500" b="1" spc="400" kern="0" dirty="0">
                <a:solidFill>
                  <a:srgbClr val="FFFFFF"/>
                </a:solidFill>
                <a:latin typeface="Calibri" pitchFamily="34" charset="0"/>
                <a:ea typeface="Calibri" pitchFamily="34" charset="-122"/>
                <a:cs typeface="Calibri" pitchFamily="34" charset="-120"/>
              </a:rPr>
              <a:t>FACTUAL</a:t>
            </a:r>
            <a:endParaRPr lang="en-US" sz="1500" dirty="0"/>
          </a:p>
        </p:txBody>
      </p:sp>
      <p:sp>
        <p:nvSpPr>
          <p:cNvPr id="8" name="Text 5"/>
          <p:cNvSpPr/>
          <p:nvPr/>
        </p:nvSpPr>
        <p:spPr>
          <a:xfrm>
            <a:off x="594360" y="1874520"/>
            <a:ext cx="2331720" cy="411480"/>
          </a:xfrm>
          <a:prstGeom prst="rect">
            <a:avLst/>
          </a:prstGeom>
          <a:noFill/>
          <a:ln/>
        </p:spPr>
        <p:txBody>
          <a:bodyPr wrap="square" lIns="0" tIns="0" rIns="0" bIns="0" rtlCol="0" anchor="t"/>
          <a:lstStyle/>
          <a:p>
            <a:pPr indent="0" marL="0">
              <a:buNone/>
            </a:pPr>
            <a:r>
              <a:rPr lang="en-US" sz="1400" b="1" dirty="0">
                <a:solidFill>
                  <a:srgbClr val="1B2A41"/>
                </a:solidFill>
                <a:latin typeface="Calibri" pitchFamily="34" charset="0"/>
                <a:ea typeface="Calibri" pitchFamily="34" charset="-122"/>
                <a:cs typeface="Calibri" pitchFamily="34" charset="-120"/>
              </a:rPr>
              <a:t>Contradicts established medical knowledge</a:t>
            </a:r>
            <a:endParaRPr lang="en-US" sz="1400" dirty="0"/>
          </a:p>
        </p:txBody>
      </p:sp>
      <p:sp>
        <p:nvSpPr>
          <p:cNvPr id="9" name="Text 6"/>
          <p:cNvSpPr/>
          <p:nvPr/>
        </p:nvSpPr>
        <p:spPr>
          <a:xfrm>
            <a:off x="594360" y="2331720"/>
            <a:ext cx="2331720" cy="685800"/>
          </a:xfrm>
          <a:prstGeom prst="rect">
            <a:avLst/>
          </a:prstGeom>
          <a:noFill/>
          <a:ln/>
        </p:spPr>
        <p:txBody>
          <a:bodyPr wrap="square" lIns="0" tIns="0" rIns="0" bIns="0" rtlCol="0" anchor="t"/>
          <a:lstStyle/>
          <a:p>
            <a:pPr indent="0" marL="0">
              <a:buNone/>
            </a:pPr>
            <a:r>
              <a:rPr lang="en-US" sz="1200" i="1" dirty="0">
                <a:solidFill>
                  <a:srgbClr val="5A6F84"/>
                </a:solidFill>
                <a:latin typeface="Calibri" pitchFamily="34" charset="0"/>
                <a:ea typeface="Calibri" pitchFamily="34" charset="-122"/>
                <a:cs typeface="Calibri" pitchFamily="34" charset="-120"/>
              </a:rPr>
              <a:t>e.g., wrong drug dose, fabricated drug-disease association</a:t>
            </a:r>
            <a:endParaRPr lang="en-US" sz="1200" dirty="0"/>
          </a:p>
        </p:txBody>
      </p:sp>
      <p:sp>
        <p:nvSpPr>
          <p:cNvPr id="10" name="Shape 7"/>
          <p:cNvSpPr/>
          <p:nvPr/>
        </p:nvSpPr>
        <p:spPr>
          <a:xfrm>
            <a:off x="3246120" y="1188720"/>
            <a:ext cx="2606040" cy="1874520"/>
          </a:xfrm>
          <a:prstGeom prst="rect">
            <a:avLst/>
          </a:prstGeom>
          <a:solidFill>
            <a:srgbClr val="F5F9FC"/>
          </a:solidFill>
          <a:ln w="15240">
            <a:solidFill>
              <a:srgbClr val="3282B8"/>
            </a:solidFill>
            <a:prstDash val="solid"/>
          </a:ln>
        </p:spPr>
      </p:sp>
      <p:sp>
        <p:nvSpPr>
          <p:cNvPr id="11" name="Shape 8"/>
          <p:cNvSpPr/>
          <p:nvPr/>
        </p:nvSpPr>
        <p:spPr>
          <a:xfrm>
            <a:off x="3246120" y="1188720"/>
            <a:ext cx="2606040" cy="594360"/>
          </a:xfrm>
          <a:prstGeom prst="rect">
            <a:avLst/>
          </a:prstGeom>
          <a:solidFill>
            <a:srgbClr val="3282B8"/>
          </a:solidFill>
          <a:ln/>
        </p:spPr>
      </p:sp>
      <p:pic>
        <p:nvPicPr>
          <p:cNvPr id="12" name="Image 1" descr="/home/claude/work/slides_v2/icons/reasoning_white.png">    </p:cNvPr>
          <p:cNvPicPr>
            <a:picLocks noChangeAspect="1"/>
          </p:cNvPicPr>
          <p:nvPr/>
        </p:nvPicPr>
        <p:blipFill>
          <a:blip r:embed="rId2"/>
          <a:stretch>
            <a:fillRect/>
          </a:stretch>
        </p:blipFill>
        <p:spPr>
          <a:xfrm>
            <a:off x="3429000" y="1325880"/>
            <a:ext cx="320040" cy="320040"/>
          </a:xfrm>
          <a:prstGeom prst="rect">
            <a:avLst/>
          </a:prstGeom>
        </p:spPr>
      </p:pic>
      <p:sp>
        <p:nvSpPr>
          <p:cNvPr id="13" name="Text 9"/>
          <p:cNvSpPr/>
          <p:nvPr/>
        </p:nvSpPr>
        <p:spPr>
          <a:xfrm>
            <a:off x="3749040" y="1280160"/>
            <a:ext cx="2011680" cy="411480"/>
          </a:xfrm>
          <a:prstGeom prst="rect">
            <a:avLst/>
          </a:prstGeom>
          <a:noFill/>
          <a:ln/>
        </p:spPr>
        <p:txBody>
          <a:bodyPr wrap="square" lIns="0" tIns="0" rIns="0" bIns="0" rtlCol="0" anchor="ctr"/>
          <a:lstStyle/>
          <a:p>
            <a:pPr indent="0" marL="0">
              <a:buNone/>
            </a:pPr>
            <a:r>
              <a:rPr lang="en-US" sz="1500" b="1" spc="400" kern="0" dirty="0">
                <a:solidFill>
                  <a:srgbClr val="FFFFFF"/>
                </a:solidFill>
                <a:latin typeface="Calibri" pitchFamily="34" charset="0"/>
                <a:ea typeface="Calibri" pitchFamily="34" charset="-122"/>
                <a:cs typeface="Calibri" pitchFamily="34" charset="-120"/>
              </a:rPr>
              <a:t>REASONING</a:t>
            </a:r>
            <a:endParaRPr lang="en-US" sz="1500" dirty="0"/>
          </a:p>
        </p:txBody>
      </p:sp>
      <p:sp>
        <p:nvSpPr>
          <p:cNvPr id="14" name="Text 10"/>
          <p:cNvSpPr/>
          <p:nvPr/>
        </p:nvSpPr>
        <p:spPr>
          <a:xfrm>
            <a:off x="3383280" y="1874520"/>
            <a:ext cx="2331720" cy="411480"/>
          </a:xfrm>
          <a:prstGeom prst="rect">
            <a:avLst/>
          </a:prstGeom>
          <a:noFill/>
          <a:ln/>
        </p:spPr>
        <p:txBody>
          <a:bodyPr wrap="square" lIns="0" tIns="0" rIns="0" bIns="0" rtlCol="0" anchor="t"/>
          <a:lstStyle/>
          <a:p>
            <a:pPr indent="0" marL="0">
              <a:buNone/>
            </a:pPr>
            <a:r>
              <a:rPr lang="en-US" sz="1400" b="1" dirty="0">
                <a:solidFill>
                  <a:srgbClr val="1B2A41"/>
                </a:solidFill>
                <a:latin typeface="Calibri" pitchFamily="34" charset="0"/>
                <a:ea typeface="Calibri" pitchFamily="34" charset="-122"/>
                <a:cs typeface="Calibri" pitchFamily="34" charset="-120"/>
              </a:rPr>
              <a:t>Logical errors in diagnosis or treatment</a:t>
            </a:r>
            <a:endParaRPr lang="en-US" sz="1400" dirty="0"/>
          </a:p>
        </p:txBody>
      </p:sp>
      <p:sp>
        <p:nvSpPr>
          <p:cNvPr id="15" name="Text 11"/>
          <p:cNvSpPr/>
          <p:nvPr/>
        </p:nvSpPr>
        <p:spPr>
          <a:xfrm>
            <a:off x="3383280" y="2331720"/>
            <a:ext cx="2331720" cy="685800"/>
          </a:xfrm>
          <a:prstGeom prst="rect">
            <a:avLst/>
          </a:prstGeom>
          <a:noFill/>
          <a:ln/>
        </p:spPr>
        <p:txBody>
          <a:bodyPr wrap="square" lIns="0" tIns="0" rIns="0" bIns="0" rtlCol="0" anchor="t"/>
          <a:lstStyle/>
          <a:p>
            <a:pPr indent="0" marL="0">
              <a:buNone/>
            </a:pPr>
            <a:r>
              <a:rPr lang="en-US" sz="1200" i="1" dirty="0">
                <a:solidFill>
                  <a:srgbClr val="5A6F84"/>
                </a:solidFill>
                <a:latin typeface="Calibri" pitchFamily="34" charset="0"/>
                <a:ea typeface="Calibri" pitchFamily="34" charset="-122"/>
                <a:cs typeface="Calibri" pitchFamily="34" charset="-120"/>
              </a:rPr>
              <a:t>e.g., diagnosis doesn't match symptoms, internal contradictions</a:t>
            </a:r>
            <a:endParaRPr lang="en-US" sz="1200" dirty="0"/>
          </a:p>
        </p:txBody>
      </p:sp>
      <p:sp>
        <p:nvSpPr>
          <p:cNvPr id="16" name="Shape 12"/>
          <p:cNvSpPr/>
          <p:nvPr/>
        </p:nvSpPr>
        <p:spPr>
          <a:xfrm>
            <a:off x="6035040" y="1188720"/>
            <a:ext cx="2606040" cy="1874520"/>
          </a:xfrm>
          <a:prstGeom prst="rect">
            <a:avLst/>
          </a:prstGeom>
          <a:solidFill>
            <a:srgbClr val="F5F9FC"/>
          </a:solidFill>
          <a:ln w="15240">
            <a:solidFill>
              <a:srgbClr val="00A896"/>
            </a:solidFill>
            <a:prstDash val="solid"/>
          </a:ln>
        </p:spPr>
      </p:sp>
      <p:sp>
        <p:nvSpPr>
          <p:cNvPr id="17" name="Shape 13"/>
          <p:cNvSpPr/>
          <p:nvPr/>
        </p:nvSpPr>
        <p:spPr>
          <a:xfrm>
            <a:off x="6035040" y="1188720"/>
            <a:ext cx="2606040" cy="594360"/>
          </a:xfrm>
          <a:prstGeom prst="rect">
            <a:avLst/>
          </a:prstGeom>
          <a:solidFill>
            <a:srgbClr val="00A896"/>
          </a:solidFill>
          <a:ln/>
        </p:spPr>
      </p:sp>
      <p:pic>
        <p:nvPicPr>
          <p:cNvPr id="18" name="Image 2" descr="/home/claude/work/slides_v2/icons/evidence_white.png">    </p:cNvPr>
          <p:cNvPicPr>
            <a:picLocks noChangeAspect="1"/>
          </p:cNvPicPr>
          <p:nvPr/>
        </p:nvPicPr>
        <p:blipFill>
          <a:blip r:embed="rId3"/>
          <a:stretch>
            <a:fillRect/>
          </a:stretch>
        </p:blipFill>
        <p:spPr>
          <a:xfrm>
            <a:off x="6217920" y="1325880"/>
            <a:ext cx="320040" cy="320040"/>
          </a:xfrm>
          <a:prstGeom prst="rect">
            <a:avLst/>
          </a:prstGeom>
        </p:spPr>
      </p:pic>
      <p:sp>
        <p:nvSpPr>
          <p:cNvPr id="19" name="Text 14"/>
          <p:cNvSpPr/>
          <p:nvPr/>
        </p:nvSpPr>
        <p:spPr>
          <a:xfrm>
            <a:off x="6537960" y="1280160"/>
            <a:ext cx="2011680" cy="411480"/>
          </a:xfrm>
          <a:prstGeom prst="rect">
            <a:avLst/>
          </a:prstGeom>
          <a:noFill/>
          <a:ln/>
        </p:spPr>
        <p:txBody>
          <a:bodyPr wrap="square" lIns="0" tIns="0" rIns="0" bIns="0" rtlCol="0" anchor="ctr"/>
          <a:lstStyle/>
          <a:p>
            <a:pPr indent="0" marL="0">
              <a:buNone/>
            </a:pPr>
            <a:r>
              <a:rPr lang="en-US" sz="1500" b="1" spc="400" kern="0" dirty="0">
                <a:solidFill>
                  <a:srgbClr val="FFFFFF"/>
                </a:solidFill>
                <a:latin typeface="Calibri" pitchFamily="34" charset="0"/>
                <a:ea typeface="Calibri" pitchFamily="34" charset="-122"/>
                <a:cs typeface="Calibri" pitchFamily="34" charset="-120"/>
              </a:rPr>
              <a:t>EVIDENCE</a:t>
            </a:r>
            <a:endParaRPr lang="en-US" sz="1500" dirty="0"/>
          </a:p>
        </p:txBody>
      </p:sp>
      <p:sp>
        <p:nvSpPr>
          <p:cNvPr id="20" name="Text 15"/>
          <p:cNvSpPr/>
          <p:nvPr/>
        </p:nvSpPr>
        <p:spPr>
          <a:xfrm>
            <a:off x="6172200" y="1874520"/>
            <a:ext cx="2331720" cy="411480"/>
          </a:xfrm>
          <a:prstGeom prst="rect">
            <a:avLst/>
          </a:prstGeom>
          <a:noFill/>
          <a:ln/>
        </p:spPr>
        <p:txBody>
          <a:bodyPr wrap="square" lIns="0" tIns="0" rIns="0" bIns="0" rtlCol="0" anchor="t"/>
          <a:lstStyle/>
          <a:p>
            <a:pPr indent="0" marL="0">
              <a:buNone/>
            </a:pPr>
            <a:r>
              <a:rPr lang="en-US" sz="1400" b="1" dirty="0">
                <a:solidFill>
                  <a:srgbClr val="1B2A41"/>
                </a:solidFill>
                <a:latin typeface="Calibri" pitchFamily="34" charset="0"/>
                <a:ea typeface="Calibri" pitchFamily="34" charset="-122"/>
                <a:cs typeface="Calibri" pitchFamily="34" charset="-120"/>
              </a:rPr>
              <a:t>Cites studies/guidelines that don't exist</a:t>
            </a:r>
            <a:endParaRPr lang="en-US" sz="1400" dirty="0"/>
          </a:p>
        </p:txBody>
      </p:sp>
      <p:sp>
        <p:nvSpPr>
          <p:cNvPr id="21" name="Text 16"/>
          <p:cNvSpPr/>
          <p:nvPr/>
        </p:nvSpPr>
        <p:spPr>
          <a:xfrm>
            <a:off x="6172200" y="2331720"/>
            <a:ext cx="2331720" cy="685800"/>
          </a:xfrm>
          <a:prstGeom prst="rect">
            <a:avLst/>
          </a:prstGeom>
          <a:noFill/>
          <a:ln/>
        </p:spPr>
        <p:txBody>
          <a:bodyPr wrap="square" lIns="0" tIns="0" rIns="0" bIns="0" rtlCol="0" anchor="t"/>
          <a:lstStyle/>
          <a:p>
            <a:pPr indent="0" marL="0">
              <a:buNone/>
            </a:pPr>
            <a:r>
              <a:rPr lang="en-US" sz="1200" i="1" dirty="0">
                <a:solidFill>
                  <a:srgbClr val="5A6F84"/>
                </a:solidFill>
                <a:latin typeface="Calibri" pitchFamily="34" charset="0"/>
                <a:ea typeface="Calibri" pitchFamily="34" charset="-122"/>
                <a:cs typeface="Calibri" pitchFamily="34" charset="-120"/>
              </a:rPr>
              <a:t>e.g., made-up statistics, fake citations</a:t>
            </a:r>
            <a:endParaRPr lang="en-US" sz="1200" dirty="0"/>
          </a:p>
        </p:txBody>
      </p:sp>
      <p:sp>
        <p:nvSpPr>
          <p:cNvPr id="22" name="Shape 17"/>
          <p:cNvSpPr/>
          <p:nvPr/>
        </p:nvSpPr>
        <p:spPr>
          <a:xfrm>
            <a:off x="457200" y="3337560"/>
            <a:ext cx="8229600" cy="1371600"/>
          </a:xfrm>
          <a:prstGeom prst="rect">
            <a:avLst/>
          </a:prstGeom>
          <a:solidFill>
            <a:srgbClr val="0F4C75"/>
          </a:solidFill>
          <a:ln w="12700">
            <a:solidFill>
              <a:srgbClr val="0F4C75"/>
            </a:solidFill>
            <a:prstDash val="solid"/>
          </a:ln>
        </p:spPr>
      </p:sp>
      <p:pic>
        <p:nvPicPr>
          <p:cNvPr id="23" name="Image 3" descr="/home/claude/work/slides_v2/icons/judge_mint.png">    </p:cNvPr>
          <p:cNvPicPr>
            <a:picLocks noChangeAspect="1"/>
          </p:cNvPicPr>
          <p:nvPr/>
        </p:nvPicPr>
        <p:blipFill>
          <a:blip r:embed="rId4"/>
          <a:stretch>
            <a:fillRect/>
          </a:stretch>
        </p:blipFill>
        <p:spPr>
          <a:xfrm>
            <a:off x="640080" y="3520440"/>
            <a:ext cx="457200" cy="457200"/>
          </a:xfrm>
          <a:prstGeom prst="rect">
            <a:avLst/>
          </a:prstGeom>
        </p:spPr>
      </p:pic>
      <p:sp>
        <p:nvSpPr>
          <p:cNvPr id="24" name="Text 18"/>
          <p:cNvSpPr/>
          <p:nvPr/>
        </p:nvSpPr>
        <p:spPr>
          <a:xfrm>
            <a:off x="1188720" y="3520440"/>
            <a:ext cx="7315200" cy="457200"/>
          </a:xfrm>
          <a:prstGeom prst="rect">
            <a:avLst/>
          </a:prstGeom>
          <a:noFill/>
          <a:ln/>
        </p:spPr>
        <p:txBody>
          <a:bodyPr wrap="square" lIns="0" tIns="0" rIns="0" bIns="0" rtlCol="0" anchor="ctr"/>
          <a:lstStyle/>
          <a:p>
            <a:pPr indent="0" marL="0">
              <a:buNone/>
            </a:pPr>
            <a:r>
              <a:rPr lang="en-US" sz="1400" b="1" spc="300" kern="0" dirty="0">
                <a:solidFill>
                  <a:srgbClr val="00A896"/>
                </a:solidFill>
                <a:latin typeface="Calibri" pitchFamily="34" charset="0"/>
                <a:ea typeface="Calibri" pitchFamily="34" charset="-122"/>
                <a:cs typeface="Calibri" pitchFamily="34" charset="-120"/>
              </a:rPr>
              <a:t>JUDGE OUTPUT (per response)</a:t>
            </a:r>
            <a:endParaRPr lang="en-US" sz="1400" dirty="0"/>
          </a:p>
        </p:txBody>
      </p:sp>
      <p:sp>
        <p:nvSpPr>
          <p:cNvPr id="25" name="Text 19"/>
          <p:cNvSpPr/>
          <p:nvPr/>
        </p:nvSpPr>
        <p:spPr>
          <a:xfrm>
            <a:off x="640080" y="4023360"/>
            <a:ext cx="7863840" cy="640080"/>
          </a:xfrm>
          <a:prstGeom prst="rect">
            <a:avLst/>
          </a:prstGeom>
          <a:noFill/>
          <a:ln/>
        </p:spPr>
        <p:txBody>
          <a:bodyPr wrap="square" lIns="0" tIns="0" rIns="0" bIns="0" rtlCol="0" anchor="ctr"/>
          <a:lstStyle/>
          <a:p>
            <a:pPr indent="0" marL="0">
              <a:spcAft>
                <a:spcPts val="400"/>
              </a:spcAft>
              <a:buNone/>
            </a:pPr>
            <a:r>
              <a:rPr lang="en-US" sz="1400" b="1" dirty="0">
                <a:solidFill>
                  <a:srgbClr val="FFFFFF"/>
                </a:solidFill>
                <a:latin typeface="Consolas" pitchFamily="34" charset="0"/>
                <a:ea typeface="Consolas" pitchFamily="34" charset="-122"/>
                <a:cs typeface="Consolas" pitchFamily="34" charset="-120"/>
              </a:rPr>
              <a:t>factual: 0/1   |   reasoning: 0/1   |   evidence: 0/1   |   overall: 0/1</a:t>
            </a:r>
            <a:endParaRPr lang="en-US" sz="1400" dirty="0"/>
          </a:p>
          <a:p>
            <a:pPr indent="0" marL="0">
              <a:spcAft>
                <a:spcPts val="400"/>
              </a:spcAft>
              <a:buNone/>
            </a:pPr>
            <a:r>
              <a:rPr lang="en-US" sz="1400" b="1" dirty="0">
                <a:solidFill>
                  <a:srgbClr val="FFFFFF"/>
                </a:solidFill>
                <a:latin typeface="Consolas" pitchFamily="34" charset="0"/>
                <a:ea typeface="Consolas" pitchFamily="34" charset="-122"/>
                <a:cs typeface="Consolas" pitchFamily="34" charset="-120"/>
              </a:rPr>
              <a:t>demographic_sensitivity: low / medium / high   |   notes: &lt;free text&gt;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F4C75"/>
                </a:solidFill>
                <a:latin typeface="Cambria" pitchFamily="34" charset="0"/>
                <a:ea typeface="Cambria" pitchFamily="34" charset="-122"/>
                <a:cs typeface="Cambria" pitchFamily="34" charset="-120"/>
              </a:rPr>
              <a:t>Result 1: Gender-Based Disparity in Hallucinations</a:t>
            </a:r>
            <a:endParaRPr lang="en-US" sz="2800" dirty="0"/>
          </a:p>
        </p:txBody>
      </p:sp>
      <p:pic>
        <p:nvPicPr>
          <p:cNvPr id="3" name="Image 0" descr="/home/claude/work/slides_v2/charts/chart_1_overall_disparity.png">    </p:cNvPr>
          <p:cNvPicPr>
            <a:picLocks noChangeAspect="1"/>
          </p:cNvPicPr>
          <p:nvPr/>
        </p:nvPicPr>
        <p:blipFill>
          <a:blip r:embed="rId1"/>
          <a:stretch>
            <a:fillRect/>
          </a:stretch>
        </p:blipFill>
        <p:spPr>
          <a:xfrm>
            <a:off x="274320" y="914400"/>
            <a:ext cx="4937760" cy="3017520"/>
          </a:xfrm>
          <a:prstGeom prst="rect">
            <a:avLst/>
          </a:prstGeom>
        </p:spPr>
      </p:pic>
      <p:pic>
        <p:nvPicPr>
          <p:cNvPr id="4" name="Image 1" descr="/home/claude/work/slides_v2/charts/chart_4_intersectional_heatmap.png">    </p:cNvPr>
          <p:cNvPicPr>
            <a:picLocks noChangeAspect="1"/>
          </p:cNvPicPr>
          <p:nvPr/>
        </p:nvPicPr>
        <p:blipFill>
          <a:blip r:embed="rId2"/>
          <a:stretch>
            <a:fillRect/>
          </a:stretch>
        </p:blipFill>
        <p:spPr>
          <a:xfrm>
            <a:off x="5349240" y="914400"/>
            <a:ext cx="3474720" cy="3017520"/>
          </a:xfrm>
          <a:prstGeom prst="rect">
            <a:avLst/>
          </a:prstGeom>
        </p:spPr>
      </p:pic>
      <p:sp>
        <p:nvSpPr>
          <p:cNvPr id="5" name="Shape 1"/>
          <p:cNvSpPr/>
          <p:nvPr/>
        </p:nvSpPr>
        <p:spPr>
          <a:xfrm>
            <a:off x="457200" y="4114800"/>
            <a:ext cx="8229600" cy="777240"/>
          </a:xfrm>
          <a:prstGeom prst="rect">
            <a:avLst/>
          </a:prstGeom>
          <a:solidFill>
            <a:srgbClr val="F5F9FC"/>
          </a:solidFill>
          <a:ln w="15240">
            <a:solidFill>
              <a:srgbClr val="0F4C75"/>
            </a:solidFill>
            <a:prstDash val="solid"/>
          </a:ln>
        </p:spPr>
      </p:sp>
      <p:sp>
        <p:nvSpPr>
          <p:cNvPr id="6" name="Shape 2"/>
          <p:cNvSpPr/>
          <p:nvPr/>
        </p:nvSpPr>
        <p:spPr>
          <a:xfrm>
            <a:off x="457200" y="4114800"/>
            <a:ext cx="73152" cy="777240"/>
          </a:xfrm>
          <a:prstGeom prst="rect">
            <a:avLst/>
          </a:prstGeom>
          <a:solidFill>
            <a:srgbClr val="0F4C75"/>
          </a:solidFill>
          <a:ln/>
        </p:spPr>
      </p:sp>
      <p:sp>
        <p:nvSpPr>
          <p:cNvPr id="7" name="Text 3"/>
          <p:cNvSpPr/>
          <p:nvPr/>
        </p:nvSpPr>
        <p:spPr>
          <a:xfrm>
            <a:off x="777240" y="4160520"/>
            <a:ext cx="7680960" cy="685800"/>
          </a:xfrm>
          <a:prstGeom prst="rect">
            <a:avLst/>
          </a:prstGeom>
          <a:noFill/>
          <a:ln/>
        </p:spPr>
        <p:txBody>
          <a:bodyPr wrap="square" lIns="0" tIns="0" rIns="0" bIns="0" rtlCol="0" anchor="ctr"/>
          <a:lstStyle/>
          <a:p>
            <a:pPr indent="0" marL="0">
              <a:buNone/>
            </a:pPr>
            <a:r>
              <a:rPr lang="en-US" sz="1400" b="1" dirty="0">
                <a:solidFill>
                  <a:srgbClr val="0F4C75"/>
                </a:solidFill>
                <a:latin typeface="Calibri" pitchFamily="34" charset="0"/>
                <a:ea typeface="Calibri" pitchFamily="34" charset="-122"/>
                <a:cs typeface="Calibri" pitchFamily="34" charset="-120"/>
              </a:rPr>
              <a:t>Key finding:  </a:t>
            </a:r>
            <a:pPr indent="0" marL="0">
              <a:buNone/>
            </a:pPr>
            <a:r>
              <a:rPr lang="en-US" sz="1400" b="1" dirty="0">
                <a:solidFill>
                  <a:srgbClr val="1B2A41"/>
                </a:solidFill>
                <a:latin typeface="Calibri" pitchFamily="34" charset="0"/>
                <a:ea typeface="Calibri" pitchFamily="34" charset="-122"/>
                <a:cs typeface="Calibri" pitchFamily="34" charset="-120"/>
              </a:rPr>
              <a:t>Men hallucinate 2-3x more than women. </a:t>
            </a:r>
            <a:pPr indent="0" marL="0">
              <a:buNone/>
            </a:pPr>
            <a:r>
              <a:rPr lang="en-US" sz="1300" dirty="0">
                <a:solidFill>
                  <a:srgbClr val="5A6F84"/>
                </a:solidFill>
                <a:latin typeface="Calibri" pitchFamily="34" charset="0"/>
                <a:ea typeface="Calibri" pitchFamily="34" charset="-122"/>
                <a:cs typeface="Calibri" pitchFamily="34" charset="-120"/>
              </a:rPr>
              <a:t>Black man (10%) &gt; White man (8%) &gt; Black woman (4%) &gt; White woman (3.3%)</a:t>
            </a:r>
            <a:pPr indent="0" marL="0">
              <a:buNone/>
            </a:pPr>
            <a:endParaRPr lang="en-US" sz="1400" dirty="0"/>
          </a:p>
          <a:p>
            <a:pPr indent="0" marL="0">
              <a:buNone/>
            </a:pPr>
            <a:r>
              <a:rPr lang="en-US" sz="1200" i="1" dirty="0">
                <a:solidFill>
                  <a:srgbClr val="5A6F84"/>
                </a:solidFill>
                <a:latin typeface="Calibri" pitchFamily="34" charset="0"/>
                <a:ea typeface="Calibri" pitchFamily="34" charset="-122"/>
                <a:cs typeface="Calibri" pitchFamily="34" charset="-120"/>
              </a:rPr>
              <a:t>Gender is the dominant axis of disparity, with race as a secondary amplifier.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800" b="1" dirty="0">
                <a:solidFill>
                  <a:srgbClr val="0F4C75"/>
                </a:solidFill>
                <a:latin typeface="Cambria" pitchFamily="34" charset="0"/>
                <a:ea typeface="Cambria" pitchFamily="34" charset="-122"/>
                <a:cs typeface="Cambria" pitchFamily="34" charset="-120"/>
              </a:rPr>
              <a:t>Result 2: Sensitive Questions Amplify Disparity</a:t>
            </a:r>
            <a:endParaRPr lang="en-US" sz="2800" dirty="0"/>
          </a:p>
        </p:txBody>
      </p:sp>
      <p:sp>
        <p:nvSpPr>
          <p:cNvPr id="3" name="Text 1"/>
          <p:cNvSpPr/>
          <p:nvPr/>
        </p:nvSpPr>
        <p:spPr>
          <a:xfrm>
            <a:off x="457200" y="777240"/>
            <a:ext cx="8229600" cy="320040"/>
          </a:xfrm>
          <a:prstGeom prst="rect">
            <a:avLst/>
          </a:prstGeom>
          <a:noFill/>
          <a:ln/>
        </p:spPr>
        <p:txBody>
          <a:bodyPr wrap="square" lIns="0" tIns="0" rIns="0" bIns="0" rtlCol="0" anchor="ctr"/>
          <a:lstStyle/>
          <a:p>
            <a:pPr indent="0" marL="0">
              <a:buNone/>
            </a:pPr>
            <a:r>
              <a:rPr lang="en-US" sz="1300" i="1" dirty="0">
                <a:solidFill>
                  <a:srgbClr val="5A6F84"/>
                </a:solidFill>
                <a:latin typeface="Calibri" pitchFamily="34" charset="0"/>
                <a:ea typeface="Calibri" pitchFamily="34" charset="-122"/>
                <a:cs typeface="Calibri" pitchFamily="34" charset="-120"/>
              </a:rPr>
              <a:t>Demographically-relevant questions trigger significantly more hallucinations for men.</a:t>
            </a:r>
            <a:endParaRPr lang="en-US" sz="1300" dirty="0"/>
          </a:p>
        </p:txBody>
      </p:sp>
      <p:pic>
        <p:nvPicPr>
          <p:cNvPr id="4" name="Image 0" descr="/home/claude/work/slides_v2/charts/chart_2_neutral_vs_sensitive.png">    </p:cNvPr>
          <p:cNvPicPr>
            <a:picLocks noChangeAspect="1"/>
          </p:cNvPicPr>
          <p:nvPr/>
        </p:nvPicPr>
        <p:blipFill>
          <a:blip r:embed="rId1"/>
          <a:stretch>
            <a:fillRect/>
          </a:stretch>
        </p:blipFill>
        <p:spPr>
          <a:xfrm>
            <a:off x="274320" y="1188720"/>
            <a:ext cx="5212080" cy="2834640"/>
          </a:xfrm>
          <a:prstGeom prst="rect">
            <a:avLst/>
          </a:prstGeom>
        </p:spPr>
      </p:pic>
      <p:sp>
        <p:nvSpPr>
          <p:cNvPr id="5" name="Shape 2"/>
          <p:cNvSpPr/>
          <p:nvPr/>
        </p:nvSpPr>
        <p:spPr>
          <a:xfrm>
            <a:off x="5577840" y="1188720"/>
            <a:ext cx="3291840" cy="2834640"/>
          </a:xfrm>
          <a:prstGeom prst="rect">
            <a:avLst/>
          </a:prstGeom>
          <a:solidFill>
            <a:srgbClr val="F5F9FC"/>
          </a:solidFill>
          <a:ln w="19050">
            <a:solidFill>
              <a:srgbClr val="0F4C75"/>
            </a:solidFill>
            <a:prstDash val="solid"/>
          </a:ln>
        </p:spPr>
      </p:sp>
      <p:sp>
        <p:nvSpPr>
          <p:cNvPr id="6" name="Text 3"/>
          <p:cNvSpPr/>
          <p:nvPr/>
        </p:nvSpPr>
        <p:spPr>
          <a:xfrm>
            <a:off x="5577840" y="1371600"/>
            <a:ext cx="3291840" cy="731520"/>
          </a:xfrm>
          <a:prstGeom prst="rect">
            <a:avLst/>
          </a:prstGeom>
          <a:noFill/>
          <a:ln/>
        </p:spPr>
        <p:txBody>
          <a:bodyPr wrap="square" lIns="0" tIns="0" rIns="0" bIns="0" rtlCol="0" anchor="ctr"/>
          <a:lstStyle/>
          <a:p>
            <a:pPr algn="ctr" indent="0" marL="0">
              <a:buNone/>
            </a:pPr>
            <a:r>
              <a:rPr lang="en-US" sz="5200" b="1" dirty="0">
                <a:solidFill>
                  <a:srgbClr val="0F4C75"/>
                </a:solidFill>
                <a:latin typeface="Cambria" pitchFamily="34" charset="0"/>
                <a:ea typeface="Cambria" pitchFamily="34" charset="-122"/>
                <a:cs typeface="Cambria" pitchFamily="34" charset="-120"/>
              </a:rPr>
              <a:t>16.7%</a:t>
            </a:r>
            <a:endParaRPr lang="en-US" sz="5200" dirty="0"/>
          </a:p>
        </p:txBody>
      </p:sp>
      <p:sp>
        <p:nvSpPr>
          <p:cNvPr id="7" name="Text 4"/>
          <p:cNvSpPr/>
          <p:nvPr/>
        </p:nvSpPr>
        <p:spPr>
          <a:xfrm>
            <a:off x="5715000" y="2103120"/>
            <a:ext cx="3108960" cy="502920"/>
          </a:xfrm>
          <a:prstGeom prst="rect">
            <a:avLst/>
          </a:prstGeom>
          <a:noFill/>
          <a:ln/>
        </p:spPr>
        <p:txBody>
          <a:bodyPr wrap="square" lIns="0" tIns="0" rIns="0" bIns="0" rtlCol="0" anchor="ctr"/>
          <a:lstStyle/>
          <a:p>
            <a:pPr algn="ctr" indent="0" marL="0">
              <a:buNone/>
            </a:pPr>
            <a:r>
              <a:rPr lang="en-US" sz="1200" i="1" dirty="0">
                <a:solidFill>
                  <a:srgbClr val="5A6F84"/>
                </a:solidFill>
                <a:latin typeface="Calibri" pitchFamily="34" charset="0"/>
                <a:ea typeface="Calibri" pitchFamily="34" charset="-122"/>
                <a:cs typeface="Calibri" pitchFamily="34" charset="-120"/>
              </a:rPr>
              <a:t>Black man hallucination rate</a:t>
            </a:r>
            <a:endParaRPr lang="en-US" sz="1200" dirty="0"/>
          </a:p>
          <a:p>
            <a:pPr algn="ctr" indent="0" marL="0">
              <a:buNone/>
            </a:pPr>
            <a:r>
              <a:rPr lang="en-US" sz="1200" i="1" dirty="0">
                <a:solidFill>
                  <a:srgbClr val="5A6F84"/>
                </a:solidFill>
                <a:latin typeface="Calibri" pitchFamily="34" charset="0"/>
                <a:ea typeface="Calibri" pitchFamily="34" charset="-122"/>
                <a:cs typeface="Calibri" pitchFamily="34" charset="-120"/>
              </a:rPr>
              <a:t>on sensitive questions</a:t>
            </a:r>
            <a:endParaRPr lang="en-US" sz="1200" dirty="0"/>
          </a:p>
        </p:txBody>
      </p:sp>
      <p:sp>
        <p:nvSpPr>
          <p:cNvPr id="8" name="Text 5"/>
          <p:cNvSpPr/>
          <p:nvPr/>
        </p:nvSpPr>
        <p:spPr>
          <a:xfrm>
            <a:off x="5577840" y="2697480"/>
            <a:ext cx="3291840" cy="594360"/>
          </a:xfrm>
          <a:prstGeom prst="rect">
            <a:avLst/>
          </a:prstGeom>
          <a:noFill/>
          <a:ln/>
        </p:spPr>
        <p:txBody>
          <a:bodyPr wrap="square" lIns="0" tIns="0" rIns="0" bIns="0" rtlCol="0" anchor="ctr"/>
          <a:lstStyle/>
          <a:p>
            <a:pPr algn="ctr" indent="0" marL="0">
              <a:buNone/>
            </a:pPr>
            <a:r>
              <a:rPr lang="en-US" sz="3400" b="1" dirty="0">
                <a:solidFill>
                  <a:srgbClr val="00A896"/>
                </a:solidFill>
                <a:latin typeface="Cambria" pitchFamily="34" charset="0"/>
                <a:ea typeface="Cambria" pitchFamily="34" charset="-122"/>
                <a:cs typeface="Cambria" pitchFamily="34" charset="-120"/>
              </a:rPr>
              <a:t>3.3%</a:t>
            </a:r>
            <a:endParaRPr lang="en-US" sz="3400" dirty="0"/>
          </a:p>
        </p:txBody>
      </p:sp>
      <p:sp>
        <p:nvSpPr>
          <p:cNvPr id="9" name="Text 6"/>
          <p:cNvSpPr/>
          <p:nvPr/>
        </p:nvSpPr>
        <p:spPr>
          <a:xfrm>
            <a:off x="5715000" y="3246120"/>
            <a:ext cx="3108960" cy="320040"/>
          </a:xfrm>
          <a:prstGeom prst="rect">
            <a:avLst/>
          </a:prstGeom>
          <a:noFill/>
          <a:ln/>
        </p:spPr>
        <p:txBody>
          <a:bodyPr wrap="square" lIns="0" tIns="0" rIns="0" bIns="0" rtlCol="0" anchor="ctr"/>
          <a:lstStyle/>
          <a:p>
            <a:pPr algn="ctr" indent="0" marL="0">
              <a:buNone/>
            </a:pPr>
            <a:r>
              <a:rPr lang="en-US" sz="1200" i="1" dirty="0">
                <a:solidFill>
                  <a:srgbClr val="5A6F84"/>
                </a:solidFill>
                <a:latin typeface="Calibri" pitchFamily="34" charset="0"/>
                <a:ea typeface="Calibri" pitchFamily="34" charset="-122"/>
                <a:cs typeface="Calibri" pitchFamily="34" charset="-120"/>
              </a:rPr>
              <a:t>White woman on same questions</a:t>
            </a:r>
            <a:endParaRPr lang="en-US" sz="1200" dirty="0"/>
          </a:p>
        </p:txBody>
      </p:sp>
      <p:sp>
        <p:nvSpPr>
          <p:cNvPr id="10" name="Text 7"/>
          <p:cNvSpPr/>
          <p:nvPr/>
        </p:nvSpPr>
        <p:spPr>
          <a:xfrm>
            <a:off x="5715000" y="3611880"/>
            <a:ext cx="3108960" cy="320040"/>
          </a:xfrm>
          <a:prstGeom prst="rect">
            <a:avLst/>
          </a:prstGeom>
          <a:noFill/>
          <a:ln/>
        </p:spPr>
        <p:txBody>
          <a:bodyPr wrap="square" lIns="0" tIns="0" rIns="0" bIns="0" rtlCol="0" anchor="ctr"/>
          <a:lstStyle/>
          <a:p>
            <a:pPr algn="ctr" indent="0" marL="0">
              <a:buNone/>
            </a:pPr>
            <a:r>
              <a:rPr lang="en-US" sz="1300" b="1" i="1" dirty="0">
                <a:solidFill>
                  <a:srgbClr val="0F4C75"/>
                </a:solidFill>
                <a:latin typeface="Calibri" pitchFamily="34" charset="0"/>
                <a:ea typeface="Calibri" pitchFamily="34" charset="-122"/>
                <a:cs typeface="Calibri" pitchFamily="34" charset="-120"/>
              </a:rPr>
              <a:t>5x disparity on sensitive questions</a:t>
            </a:r>
            <a:endParaRPr lang="en-US" sz="1300" dirty="0"/>
          </a:p>
        </p:txBody>
      </p:sp>
      <p:sp>
        <p:nvSpPr>
          <p:cNvPr id="11" name="Shape 8"/>
          <p:cNvSpPr/>
          <p:nvPr/>
        </p:nvSpPr>
        <p:spPr>
          <a:xfrm>
            <a:off x="457200" y="4206240"/>
            <a:ext cx="8229600" cy="640080"/>
          </a:xfrm>
          <a:prstGeom prst="rect">
            <a:avLst/>
          </a:prstGeom>
          <a:solidFill>
            <a:srgbClr val="0F4C75"/>
          </a:solidFill>
          <a:ln w="12700">
            <a:solidFill>
              <a:srgbClr val="0F4C75"/>
            </a:solidFill>
            <a:prstDash val="solid"/>
          </a:ln>
        </p:spPr>
      </p:sp>
      <p:sp>
        <p:nvSpPr>
          <p:cNvPr id="12" name="Text 9"/>
          <p:cNvSpPr/>
          <p:nvPr/>
        </p:nvSpPr>
        <p:spPr>
          <a:xfrm>
            <a:off x="457200" y="4206240"/>
            <a:ext cx="8229600" cy="640080"/>
          </a:xfrm>
          <a:prstGeom prst="rect">
            <a:avLst/>
          </a:prstGeom>
          <a:noFill/>
          <a:ln/>
        </p:spPr>
        <p:txBody>
          <a:bodyPr wrap="square" lIns="0" tIns="0" rIns="0" bIns="0" rtlCol="0" anchor="ctr"/>
          <a:lstStyle/>
          <a:p>
            <a:pPr algn="ctr" indent="0" marL="0">
              <a:buNone/>
            </a:pPr>
            <a:r>
              <a:rPr lang="en-US" sz="1400" b="1" dirty="0">
                <a:solidFill>
                  <a:srgbClr val="00A896"/>
                </a:solidFill>
                <a:latin typeface="Calibri" pitchFamily="34" charset="0"/>
                <a:ea typeface="Calibri" pitchFamily="34" charset="-122"/>
                <a:cs typeface="Calibri" pitchFamily="34" charset="-120"/>
              </a:rPr>
              <a:t>When demographics matter clinically, the model's errors become systematically skewed.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0F4C75"/>
                </a:solidFill>
                <a:latin typeface="Cambria" pitchFamily="34" charset="0"/>
                <a:ea typeface="Cambria" pitchFamily="34" charset="-122"/>
                <a:cs typeface="Cambria" pitchFamily="34" charset="-120"/>
              </a:rPr>
              <a:t>Methodological Insight: Why Scale Matters</a:t>
            </a:r>
            <a:endParaRPr lang="en-US" sz="2600" dirty="0"/>
          </a:p>
        </p:txBody>
      </p:sp>
      <p:sp>
        <p:nvSpPr>
          <p:cNvPr id="3" name="Text 1"/>
          <p:cNvSpPr/>
          <p:nvPr/>
        </p:nvSpPr>
        <p:spPr>
          <a:xfrm>
            <a:off x="457200" y="777240"/>
            <a:ext cx="8229600" cy="320040"/>
          </a:xfrm>
          <a:prstGeom prst="rect">
            <a:avLst/>
          </a:prstGeom>
          <a:noFill/>
          <a:ln/>
        </p:spPr>
        <p:txBody>
          <a:bodyPr wrap="square" lIns="0" tIns="0" rIns="0" bIns="0" rtlCol="0" anchor="ctr"/>
          <a:lstStyle/>
          <a:p>
            <a:pPr indent="0" marL="0">
              <a:buNone/>
            </a:pPr>
            <a:r>
              <a:rPr lang="en-US" sz="1200" i="1" dirty="0">
                <a:solidFill>
                  <a:srgbClr val="5A6F84"/>
                </a:solidFill>
                <a:latin typeface="Calibri" pitchFamily="34" charset="0"/>
                <a:ea typeface="Calibri" pitchFamily="34" charset="-122"/>
                <a:cs typeface="Calibri" pitchFamily="34" charset="-120"/>
              </a:rPr>
              <a:t>Our pilot and full study produced different demographic patterns — and that is itself a finding.</a:t>
            </a:r>
            <a:endParaRPr lang="en-US" sz="1200" dirty="0"/>
          </a:p>
        </p:txBody>
      </p:sp>
      <p:sp>
        <p:nvSpPr>
          <p:cNvPr id="4" name="Shape 2"/>
          <p:cNvSpPr/>
          <p:nvPr/>
        </p:nvSpPr>
        <p:spPr>
          <a:xfrm>
            <a:off x="457200" y="1280160"/>
            <a:ext cx="4023360" cy="2560320"/>
          </a:xfrm>
          <a:prstGeom prst="rect">
            <a:avLst/>
          </a:prstGeom>
          <a:solidFill>
            <a:srgbClr val="F5F9FC"/>
          </a:solidFill>
          <a:ln w="15240">
            <a:solidFill>
              <a:srgbClr val="86C5DA"/>
            </a:solidFill>
            <a:prstDash val="solid"/>
          </a:ln>
        </p:spPr>
      </p:sp>
      <p:sp>
        <p:nvSpPr>
          <p:cNvPr id="5" name="Shape 3"/>
          <p:cNvSpPr/>
          <p:nvPr/>
        </p:nvSpPr>
        <p:spPr>
          <a:xfrm>
            <a:off x="457200" y="1280160"/>
            <a:ext cx="4023360" cy="457200"/>
          </a:xfrm>
          <a:prstGeom prst="rect">
            <a:avLst/>
          </a:prstGeom>
          <a:solidFill>
            <a:srgbClr val="86C5DA"/>
          </a:solidFill>
          <a:ln/>
        </p:spPr>
      </p:sp>
      <p:sp>
        <p:nvSpPr>
          <p:cNvPr id="6" name="Text 4"/>
          <p:cNvSpPr/>
          <p:nvPr/>
        </p:nvSpPr>
        <p:spPr>
          <a:xfrm>
            <a:off x="594360" y="1280160"/>
            <a:ext cx="3749040" cy="457200"/>
          </a:xfrm>
          <a:prstGeom prst="rect">
            <a:avLst/>
          </a:prstGeom>
          <a:noFill/>
          <a:ln/>
        </p:spPr>
        <p:txBody>
          <a:bodyPr wrap="square" lIns="0" tIns="0" rIns="0" bIns="0" rtlCol="0" anchor="ctr"/>
          <a:lstStyle/>
          <a:p>
            <a:pPr indent="0" marL="0">
              <a:buNone/>
            </a:pPr>
            <a:r>
              <a:rPr lang="en-US" sz="1300" b="1" spc="300" kern="0" dirty="0">
                <a:solidFill>
                  <a:srgbClr val="1B2A41"/>
                </a:solidFill>
                <a:latin typeface="Calibri" pitchFamily="34" charset="0"/>
                <a:ea typeface="Calibri" pitchFamily="34" charset="-122"/>
                <a:cs typeface="Calibri" pitchFamily="34" charset="-120"/>
              </a:rPr>
              <a:t>PHASE 1: PILOT   (n = 80)</a:t>
            </a:r>
            <a:endParaRPr lang="en-US" sz="1300" dirty="0"/>
          </a:p>
        </p:txBody>
      </p:sp>
      <p:sp>
        <p:nvSpPr>
          <p:cNvPr id="7" name="Text 5"/>
          <p:cNvSpPr/>
          <p:nvPr/>
        </p:nvSpPr>
        <p:spPr>
          <a:xfrm>
            <a:off x="640080" y="1874520"/>
            <a:ext cx="3657600" cy="1828800"/>
          </a:xfrm>
          <a:prstGeom prst="rect">
            <a:avLst/>
          </a:prstGeom>
          <a:noFill/>
          <a:ln/>
        </p:spPr>
        <p:txBody>
          <a:bodyPr wrap="square" lIns="0" tIns="0" rIns="0" bIns="0" rtlCol="0" anchor="t"/>
          <a:lstStyle/>
          <a:p>
            <a:pPr indent="0" marL="0">
              <a:buNone/>
            </a:pPr>
            <a:r>
              <a:rPr lang="en-US" sz="1200" dirty="0">
                <a:solidFill>
                  <a:srgbClr val="5A6F84"/>
                </a:solidFill>
                <a:latin typeface="Calibri" pitchFamily="34" charset="0"/>
                <a:ea typeface="Calibri" pitchFamily="34" charset="-122"/>
                <a:cs typeface="Calibri" pitchFamily="34" charset="-120"/>
              </a:rPr>
              <a:t>20 questions x 4 demographics x 1 run
</a:t>
            </a:r>
            <a:pPr indent="0" marL="0">
              <a:buNone/>
            </a:pPr>
            <a:r>
              <a:rPr lang="en-US" sz="1300" b="1" dirty="0">
                <a:solidFill>
                  <a:srgbClr val="1B2A41"/>
                </a:solidFill>
                <a:latin typeface="Calibri" pitchFamily="34" charset="0"/>
                <a:ea typeface="Calibri" pitchFamily="34" charset="-122"/>
                <a:cs typeface="Calibri" pitchFamily="34" charset="-120"/>
              </a:rPr>
              <a:t>Suggested intersectional gradient:
</a:t>
            </a:r>
            <a:pPr indent="0" marL="0">
              <a:buNone/>
            </a:pPr>
            <a:r>
              <a:rPr lang="en-US" sz="1200" dirty="0">
                <a:solidFill>
                  <a:srgbClr val="1B2A41"/>
                </a:solidFill>
                <a:latin typeface="Calibri" pitchFamily="34" charset="0"/>
                <a:ea typeface="Calibri" pitchFamily="34" charset="-122"/>
                <a:cs typeface="Calibri" pitchFamily="34" charset="-120"/>
              </a:rPr>
              <a:t>BF 10% &gt; BM=WF 5% &gt; WM 0%
</a:t>
            </a:r>
            <a:pPr indent="0" marL="0">
              <a:buNone/>
            </a:pPr>
            <a:r>
              <a:rPr lang="en-US" sz="1100" i="1" dirty="0">
                <a:solidFill>
                  <a:srgbClr val="5A6F84"/>
                </a:solidFill>
                <a:latin typeface="Calibri" pitchFamily="34" charset="0"/>
                <a:ea typeface="Calibri" pitchFamily="34" charset="-122"/>
                <a:cs typeface="Calibri" pitchFamily="34" charset="-120"/>
              </a:rPr>
              <a:t>Initial signal: bias appears to follow intersectionality theory</a:t>
            </a:r>
            <a:endParaRPr lang="en-US" sz="1200" dirty="0"/>
          </a:p>
        </p:txBody>
      </p:sp>
      <p:sp>
        <p:nvSpPr>
          <p:cNvPr id="8" name="Text 6"/>
          <p:cNvSpPr/>
          <p:nvPr/>
        </p:nvSpPr>
        <p:spPr>
          <a:xfrm>
            <a:off x="4206240" y="2194560"/>
            <a:ext cx="731520" cy="457200"/>
          </a:xfrm>
          <a:prstGeom prst="rect">
            <a:avLst/>
          </a:prstGeom>
          <a:noFill/>
          <a:ln/>
        </p:spPr>
        <p:txBody>
          <a:bodyPr wrap="square" lIns="0" tIns="0" rIns="0" bIns="0" rtlCol="0" anchor="ctr"/>
          <a:lstStyle/>
          <a:p>
            <a:pPr algn="ctr" indent="0" marL="0">
              <a:buNone/>
            </a:pPr>
            <a:r>
              <a:rPr lang="en-US" sz="3200" b="1" dirty="0">
                <a:solidFill>
                  <a:srgbClr val="0F4C75"/>
                </a:solidFill>
                <a:latin typeface="Cambria" pitchFamily="34" charset="0"/>
                <a:ea typeface="Cambria" pitchFamily="34" charset="-122"/>
                <a:cs typeface="Cambria" pitchFamily="34" charset="-120"/>
              </a:rPr>
              <a:t>→</a:t>
            </a:r>
            <a:endParaRPr lang="en-US" sz="3200" dirty="0"/>
          </a:p>
        </p:txBody>
      </p:sp>
      <p:sp>
        <p:nvSpPr>
          <p:cNvPr id="9" name="Shape 7"/>
          <p:cNvSpPr/>
          <p:nvPr/>
        </p:nvSpPr>
        <p:spPr>
          <a:xfrm>
            <a:off x="4663440" y="1280160"/>
            <a:ext cx="4023360" cy="2560320"/>
          </a:xfrm>
          <a:prstGeom prst="rect">
            <a:avLst/>
          </a:prstGeom>
          <a:solidFill>
            <a:srgbClr val="F5F9FC"/>
          </a:solidFill>
          <a:ln w="19050">
            <a:solidFill>
              <a:srgbClr val="0F4C75"/>
            </a:solidFill>
            <a:prstDash val="solid"/>
          </a:ln>
        </p:spPr>
      </p:sp>
      <p:sp>
        <p:nvSpPr>
          <p:cNvPr id="10" name="Shape 8"/>
          <p:cNvSpPr/>
          <p:nvPr/>
        </p:nvSpPr>
        <p:spPr>
          <a:xfrm>
            <a:off x="4663440" y="1280160"/>
            <a:ext cx="4023360" cy="457200"/>
          </a:xfrm>
          <a:prstGeom prst="rect">
            <a:avLst/>
          </a:prstGeom>
          <a:solidFill>
            <a:srgbClr val="0F4C75"/>
          </a:solidFill>
          <a:ln/>
        </p:spPr>
      </p:sp>
      <p:sp>
        <p:nvSpPr>
          <p:cNvPr id="11" name="Text 9"/>
          <p:cNvSpPr/>
          <p:nvPr/>
        </p:nvSpPr>
        <p:spPr>
          <a:xfrm>
            <a:off x="4800600" y="1280160"/>
            <a:ext cx="3749040" cy="457200"/>
          </a:xfrm>
          <a:prstGeom prst="rect">
            <a:avLst/>
          </a:prstGeom>
          <a:noFill/>
          <a:ln/>
        </p:spPr>
        <p:txBody>
          <a:bodyPr wrap="square" lIns="0" tIns="0" rIns="0" bIns="0" rtlCol="0" anchor="ctr"/>
          <a:lstStyle/>
          <a:p>
            <a:pPr indent="0" marL="0">
              <a:buNone/>
            </a:pPr>
            <a:r>
              <a:rPr lang="en-US" sz="1300" b="1" spc="300" kern="0" dirty="0">
                <a:solidFill>
                  <a:srgbClr val="FFFFFF"/>
                </a:solidFill>
                <a:latin typeface="Calibri" pitchFamily="34" charset="0"/>
                <a:ea typeface="Calibri" pitchFamily="34" charset="-122"/>
                <a:cs typeface="Calibri" pitchFamily="34" charset="-120"/>
              </a:rPr>
              <a:t>PHASE 2: FULL STUDY   (n = 600)</a:t>
            </a:r>
            <a:endParaRPr lang="en-US" sz="1300" dirty="0"/>
          </a:p>
        </p:txBody>
      </p:sp>
      <p:sp>
        <p:nvSpPr>
          <p:cNvPr id="12" name="Text 10"/>
          <p:cNvSpPr/>
          <p:nvPr/>
        </p:nvSpPr>
        <p:spPr>
          <a:xfrm>
            <a:off x="4846320" y="1874520"/>
            <a:ext cx="3657600" cy="1828800"/>
          </a:xfrm>
          <a:prstGeom prst="rect">
            <a:avLst/>
          </a:prstGeom>
          <a:noFill/>
          <a:ln/>
        </p:spPr>
        <p:txBody>
          <a:bodyPr wrap="square" lIns="0" tIns="0" rIns="0" bIns="0" rtlCol="0" anchor="t"/>
          <a:lstStyle/>
          <a:p>
            <a:pPr indent="0" marL="0">
              <a:buNone/>
            </a:pPr>
            <a:r>
              <a:rPr lang="en-US" sz="1200" dirty="0">
                <a:solidFill>
                  <a:srgbClr val="5A6F84"/>
                </a:solidFill>
                <a:latin typeface="Calibri" pitchFamily="34" charset="0"/>
                <a:ea typeface="Calibri" pitchFamily="34" charset="-122"/>
                <a:cs typeface="Calibri" pitchFamily="34" charset="-120"/>
              </a:rPr>
              <a:t>50 questions x 4 demographics x 3 runs
</a:t>
            </a:r>
            <a:pPr indent="0" marL="0">
              <a:buNone/>
            </a:pPr>
            <a:r>
              <a:rPr lang="en-US" sz="1300" b="1" dirty="0">
                <a:solidFill>
                  <a:srgbClr val="1B2A41"/>
                </a:solidFill>
                <a:latin typeface="Calibri" pitchFamily="34" charset="0"/>
                <a:ea typeface="Calibri" pitchFamily="34" charset="-122"/>
                <a:cs typeface="Calibri" pitchFamily="34" charset="-120"/>
              </a:rPr>
              <a:t>Revealed gender-based pattern:
</a:t>
            </a:r>
            <a:pPr indent="0" marL="0">
              <a:buNone/>
            </a:pPr>
            <a:r>
              <a:rPr lang="en-US" sz="1200" dirty="0">
                <a:solidFill>
                  <a:srgbClr val="1B2A41"/>
                </a:solidFill>
                <a:latin typeface="Calibri" pitchFamily="34" charset="0"/>
                <a:ea typeface="Calibri" pitchFamily="34" charset="-122"/>
                <a:cs typeface="Calibri" pitchFamily="34" charset="-120"/>
              </a:rPr>
              <a:t>BM 10% &gt; WM 8% &gt; BF 4% &gt; WF 3.3%
</a:t>
            </a:r>
            <a:pPr indent="0" marL="0">
              <a:buNone/>
            </a:pPr>
            <a:r>
              <a:rPr lang="en-US" sz="1100" i="1" dirty="0">
                <a:solidFill>
                  <a:srgbClr val="5A6F84"/>
                </a:solidFill>
                <a:latin typeface="Calibri" pitchFamily="34" charset="0"/>
                <a:ea typeface="Calibri" pitchFamily="34" charset="-122"/>
                <a:cs typeface="Calibri" pitchFamily="34" charset="-120"/>
              </a:rPr>
              <a:t>Stable finding: men hallucinate 2-3x more than women</a:t>
            </a:r>
            <a:endParaRPr lang="en-US" sz="1200" dirty="0"/>
          </a:p>
        </p:txBody>
      </p:sp>
      <p:sp>
        <p:nvSpPr>
          <p:cNvPr id="13" name="Shape 11"/>
          <p:cNvSpPr/>
          <p:nvPr/>
        </p:nvSpPr>
        <p:spPr>
          <a:xfrm>
            <a:off x="457200" y="4023360"/>
            <a:ext cx="8229600" cy="868680"/>
          </a:xfrm>
          <a:prstGeom prst="rect">
            <a:avLst/>
          </a:prstGeom>
          <a:solidFill>
            <a:srgbClr val="0F4C75"/>
          </a:solidFill>
          <a:ln w="12700">
            <a:solidFill>
              <a:srgbClr val="0F4C75"/>
            </a:solidFill>
            <a:prstDash val="solid"/>
          </a:ln>
        </p:spPr>
      </p:sp>
      <p:sp>
        <p:nvSpPr>
          <p:cNvPr id="14" name="Text 12"/>
          <p:cNvSpPr/>
          <p:nvPr/>
        </p:nvSpPr>
        <p:spPr>
          <a:xfrm>
            <a:off x="640080" y="4069080"/>
            <a:ext cx="7863840" cy="77724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Meta-finding:  </a:t>
            </a:r>
            <a:pPr indent="0" marL="0">
              <a:buNone/>
            </a:pPr>
            <a:r>
              <a:rPr lang="en-US" sz="1200" dirty="0">
                <a:solidFill>
                  <a:srgbClr val="FFFFFF"/>
                </a:solidFill>
                <a:latin typeface="Calibri" pitchFamily="34" charset="0"/>
                <a:ea typeface="Calibri" pitchFamily="34" charset="-122"/>
                <a:cs typeface="Calibri" pitchFamily="34" charset="-120"/>
              </a:rPr>
              <a:t>LLM hallucinations are stochastic. Small-sample bias audits (n&lt;100) can produce unstable conclusions.</a:t>
            </a:r>
            <a:pPr indent="0" marL="0">
              <a:buNone/>
            </a:pPr>
            <a:endParaRPr lang="en-US" sz="1300" dirty="0"/>
          </a:p>
          <a:p>
            <a:pPr indent="0" marL="0">
              <a:buNone/>
            </a:pPr>
            <a:r>
              <a:rPr lang="en-US" sz="1100" i="1" dirty="0">
                <a:solidFill>
                  <a:srgbClr val="FFFFFF"/>
                </a:solidFill>
                <a:latin typeface="Calibri" pitchFamily="34" charset="0"/>
                <a:ea typeface="Calibri" pitchFamily="34" charset="-122"/>
                <a:cs typeface="Calibri" pitchFamily="34" charset="-120"/>
              </a:rPr>
              <a:t>The core finding — that demographic disparities exist — is confirmed. But the specific pattern requires larger samples.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F4C75"/>
          </a:solidFill>
          <a:ln w="12700">
            <a:solidFill>
              <a:srgbClr val="0F4C75"/>
            </a:solidFill>
            <a:prstDash val="solid"/>
          </a:ln>
        </p:spPr>
      </p:sp>
      <p:sp>
        <p:nvSpPr>
          <p:cNvPr id="3" name="Text 1"/>
          <p:cNvSpPr/>
          <p:nvPr/>
        </p:nvSpPr>
        <p:spPr>
          <a:xfrm>
            <a:off x="457200" y="365760"/>
            <a:ext cx="6400800" cy="502920"/>
          </a:xfrm>
          <a:prstGeom prst="rect">
            <a:avLst/>
          </a:prstGeom>
          <a:noFill/>
          <a:ln/>
        </p:spPr>
        <p:txBody>
          <a:bodyPr wrap="square" lIns="0" tIns="0" rIns="0" bIns="0" rtlCol="0" anchor="ctr"/>
          <a:lstStyle/>
          <a:p>
            <a:pPr indent="0" marL="0">
              <a:buNone/>
            </a:pPr>
            <a:r>
              <a:rPr lang="en-US" sz="3200" b="1" dirty="0">
                <a:solidFill>
                  <a:srgbClr val="0F4C75"/>
                </a:solidFill>
                <a:latin typeface="Cambria" pitchFamily="34" charset="0"/>
                <a:ea typeface="Cambria" pitchFamily="34" charset="-122"/>
                <a:cs typeface="Cambria" pitchFamily="34" charset="-120"/>
              </a:rPr>
              <a:t>Takeaways</a:t>
            </a:r>
            <a:endParaRPr lang="en-US" sz="3200" dirty="0"/>
          </a:p>
        </p:txBody>
      </p:sp>
      <p:pic>
        <p:nvPicPr>
          <p:cNvPr id="4" name="Image 0" descr="/home/claude/work/slides_v2/images/slide10_system.jpg">    </p:cNvPr>
          <p:cNvPicPr>
            <a:picLocks noChangeAspect="1"/>
          </p:cNvPicPr>
          <p:nvPr/>
        </p:nvPicPr>
        <p:blipFill>
          <a:blip r:embed="rId1"/>
          <a:srcRect l="0" r="0" t="0" b="0"/>
          <a:stretch/>
        </p:blipFill>
        <p:spPr>
          <a:xfrm>
            <a:off x="6858000" y="274320"/>
            <a:ext cx="2011680" cy="1005840"/>
          </a:xfrm>
          <a:prstGeom prst="rect">
            <a:avLst/>
          </a:prstGeom>
        </p:spPr>
      </p:pic>
      <p:sp>
        <p:nvSpPr>
          <p:cNvPr id="5" name="Shape 2"/>
          <p:cNvSpPr/>
          <p:nvPr/>
        </p:nvSpPr>
        <p:spPr>
          <a:xfrm>
            <a:off x="457200" y="1051560"/>
            <a:ext cx="548640" cy="548640"/>
          </a:xfrm>
          <a:prstGeom prst="ellipse">
            <a:avLst/>
          </a:prstGeom>
          <a:solidFill>
            <a:srgbClr val="0F4C75"/>
          </a:solidFill>
          <a:ln w="12700">
            <a:solidFill>
              <a:srgbClr val="0F4C75"/>
            </a:solidFill>
            <a:prstDash val="solid"/>
          </a:ln>
        </p:spPr>
      </p:sp>
      <p:sp>
        <p:nvSpPr>
          <p:cNvPr id="6" name="Text 3"/>
          <p:cNvSpPr/>
          <p:nvPr/>
        </p:nvSpPr>
        <p:spPr>
          <a:xfrm>
            <a:off x="457200" y="10515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pic>
        <p:nvPicPr>
          <p:cNvPr id="7" name="Image 1" descr="/home/claude/work/slides_v2/icons/lightbulb_mint.png">    </p:cNvPr>
          <p:cNvPicPr>
            <a:picLocks noChangeAspect="1"/>
          </p:cNvPicPr>
          <p:nvPr/>
        </p:nvPicPr>
        <p:blipFill>
          <a:blip r:embed="rId2"/>
          <a:stretch>
            <a:fillRect/>
          </a:stretch>
        </p:blipFill>
        <p:spPr>
          <a:xfrm>
            <a:off x="1188720" y="1097280"/>
            <a:ext cx="457200" cy="457200"/>
          </a:xfrm>
          <a:prstGeom prst="rect">
            <a:avLst/>
          </a:prstGeom>
        </p:spPr>
      </p:pic>
      <p:sp>
        <p:nvSpPr>
          <p:cNvPr id="8" name="Text 4"/>
          <p:cNvSpPr/>
          <p:nvPr/>
        </p:nvSpPr>
        <p:spPr>
          <a:xfrm>
            <a:off x="1783080" y="1051560"/>
            <a:ext cx="6858000" cy="777240"/>
          </a:xfrm>
          <a:prstGeom prst="rect">
            <a:avLst/>
          </a:prstGeom>
          <a:noFill/>
          <a:ln/>
        </p:spPr>
        <p:txBody>
          <a:bodyPr wrap="square" lIns="0" tIns="0" rIns="0" bIns="0" rtlCol="0" anchor="t"/>
          <a:lstStyle/>
          <a:p>
            <a:pPr indent="0" marL="0">
              <a:buNone/>
            </a:pPr>
            <a:r>
              <a:rPr lang="en-US" sz="1400" b="1" dirty="0">
                <a:solidFill>
                  <a:srgbClr val="1B2A41"/>
                </a:solidFill>
                <a:latin typeface="Calibri" pitchFamily="34" charset="0"/>
                <a:ea typeface="Calibri" pitchFamily="34" charset="-122"/>
                <a:cs typeface="Calibri" pitchFamily="34" charset="-120"/>
              </a:rPr>
              <a:t>LLM hallucinations are not equally distributed across demographics.
</a:t>
            </a:r>
            <a:pPr indent="0" marL="0">
              <a:buNone/>
            </a:pPr>
            <a:r>
              <a:rPr lang="en-US" sz="1200" i="1" dirty="0">
                <a:solidFill>
                  <a:srgbClr val="5A6F84"/>
                </a:solidFill>
                <a:latin typeface="Calibri" pitchFamily="34" charset="0"/>
                <a:ea typeface="Calibri" pitchFamily="34" charset="-122"/>
                <a:cs typeface="Calibri" pitchFamily="34" charset="-120"/>
              </a:rPr>
              <a:t>Men experienced 2-3x higher rates than women. Black men were most affected at 10%.</a:t>
            </a:r>
            <a:endParaRPr lang="en-US" sz="1400" dirty="0"/>
          </a:p>
        </p:txBody>
      </p:sp>
      <p:sp>
        <p:nvSpPr>
          <p:cNvPr id="9" name="Shape 5"/>
          <p:cNvSpPr/>
          <p:nvPr/>
        </p:nvSpPr>
        <p:spPr>
          <a:xfrm>
            <a:off x="457200" y="1920240"/>
            <a:ext cx="548640" cy="548640"/>
          </a:xfrm>
          <a:prstGeom prst="ellipse">
            <a:avLst/>
          </a:prstGeom>
          <a:solidFill>
            <a:srgbClr val="0F4C75"/>
          </a:solidFill>
          <a:ln w="12700">
            <a:solidFill>
              <a:srgbClr val="0F4C75"/>
            </a:solidFill>
            <a:prstDash val="solid"/>
          </a:ln>
        </p:spPr>
      </p:sp>
      <p:sp>
        <p:nvSpPr>
          <p:cNvPr id="10" name="Text 6"/>
          <p:cNvSpPr/>
          <p:nvPr/>
        </p:nvSpPr>
        <p:spPr>
          <a:xfrm>
            <a:off x="457200" y="19202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pic>
        <p:nvPicPr>
          <p:cNvPr id="11" name="Image 2" descr="/home/claude/work/slides_v2/icons/chart_mint.png">    </p:cNvPr>
          <p:cNvPicPr>
            <a:picLocks noChangeAspect="1"/>
          </p:cNvPicPr>
          <p:nvPr/>
        </p:nvPicPr>
        <p:blipFill>
          <a:blip r:embed="rId3"/>
          <a:stretch>
            <a:fillRect/>
          </a:stretch>
        </p:blipFill>
        <p:spPr>
          <a:xfrm>
            <a:off x="1188720" y="1965960"/>
            <a:ext cx="457200" cy="457200"/>
          </a:xfrm>
          <a:prstGeom prst="rect">
            <a:avLst/>
          </a:prstGeom>
        </p:spPr>
      </p:pic>
      <p:sp>
        <p:nvSpPr>
          <p:cNvPr id="12" name="Text 7"/>
          <p:cNvSpPr/>
          <p:nvPr/>
        </p:nvSpPr>
        <p:spPr>
          <a:xfrm>
            <a:off x="1783080" y="1920240"/>
            <a:ext cx="6858000" cy="777240"/>
          </a:xfrm>
          <a:prstGeom prst="rect">
            <a:avLst/>
          </a:prstGeom>
          <a:noFill/>
          <a:ln/>
        </p:spPr>
        <p:txBody>
          <a:bodyPr wrap="square" lIns="0" tIns="0" rIns="0" bIns="0" rtlCol="0" anchor="t"/>
          <a:lstStyle/>
          <a:p>
            <a:pPr indent="0" marL="0">
              <a:buNone/>
            </a:pPr>
            <a:r>
              <a:rPr lang="en-US" sz="1400" b="1" dirty="0">
                <a:solidFill>
                  <a:srgbClr val="1B2A41"/>
                </a:solidFill>
                <a:latin typeface="Calibri" pitchFamily="34" charset="0"/>
                <a:ea typeface="Calibri" pitchFamily="34" charset="-122"/>
                <a:cs typeface="Calibri" pitchFamily="34" charset="-120"/>
              </a:rPr>
              <a:t>Sensitive clinical contexts amplify demographic disparities.
</a:t>
            </a:r>
            <a:pPr indent="0" marL="0">
              <a:buNone/>
            </a:pPr>
            <a:r>
              <a:rPr lang="en-US" sz="1200" i="1" dirty="0">
                <a:solidFill>
                  <a:srgbClr val="5A6F84"/>
                </a:solidFill>
                <a:latin typeface="Calibri" pitchFamily="34" charset="0"/>
                <a:ea typeface="Calibri" pitchFamily="34" charset="-122"/>
                <a:cs typeface="Calibri" pitchFamily="34" charset="-120"/>
              </a:rPr>
              <a:t>On demographically-relevant questions, Black men reached 16.7% vs White women at 3.3% — a 5x gap.</a:t>
            </a:r>
            <a:endParaRPr lang="en-US" sz="1400" dirty="0"/>
          </a:p>
        </p:txBody>
      </p:sp>
      <p:sp>
        <p:nvSpPr>
          <p:cNvPr id="13" name="Shape 8"/>
          <p:cNvSpPr/>
          <p:nvPr/>
        </p:nvSpPr>
        <p:spPr>
          <a:xfrm>
            <a:off x="457200" y="2788920"/>
            <a:ext cx="548640" cy="548640"/>
          </a:xfrm>
          <a:prstGeom prst="ellipse">
            <a:avLst/>
          </a:prstGeom>
          <a:solidFill>
            <a:srgbClr val="0F4C75"/>
          </a:solidFill>
          <a:ln w="12700">
            <a:solidFill>
              <a:srgbClr val="0F4C75"/>
            </a:solidFill>
            <a:prstDash val="solid"/>
          </a:ln>
        </p:spPr>
      </p:sp>
      <p:sp>
        <p:nvSpPr>
          <p:cNvPr id="14" name="Text 9"/>
          <p:cNvSpPr/>
          <p:nvPr/>
        </p:nvSpPr>
        <p:spPr>
          <a:xfrm>
            <a:off x="457200" y="2788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pic>
        <p:nvPicPr>
          <p:cNvPr id="15" name="Image 3" descr="/home/claude/work/slides_v2/icons/heart_mint.png">    </p:cNvPr>
          <p:cNvPicPr>
            <a:picLocks noChangeAspect="1"/>
          </p:cNvPicPr>
          <p:nvPr/>
        </p:nvPicPr>
        <p:blipFill>
          <a:blip r:embed="rId4"/>
          <a:stretch>
            <a:fillRect/>
          </a:stretch>
        </p:blipFill>
        <p:spPr>
          <a:xfrm>
            <a:off x="1188720" y="2834640"/>
            <a:ext cx="457200" cy="457200"/>
          </a:xfrm>
          <a:prstGeom prst="rect">
            <a:avLst/>
          </a:prstGeom>
        </p:spPr>
      </p:pic>
      <p:sp>
        <p:nvSpPr>
          <p:cNvPr id="16" name="Text 10"/>
          <p:cNvSpPr/>
          <p:nvPr/>
        </p:nvSpPr>
        <p:spPr>
          <a:xfrm>
            <a:off x="1783080" y="2788920"/>
            <a:ext cx="6858000" cy="777240"/>
          </a:xfrm>
          <a:prstGeom prst="rect">
            <a:avLst/>
          </a:prstGeom>
          <a:noFill/>
          <a:ln/>
        </p:spPr>
        <p:txBody>
          <a:bodyPr wrap="square" lIns="0" tIns="0" rIns="0" bIns="0" rtlCol="0" anchor="t"/>
          <a:lstStyle/>
          <a:p>
            <a:pPr indent="0" marL="0">
              <a:buNone/>
            </a:pPr>
            <a:r>
              <a:rPr lang="en-US" sz="1400" b="1" dirty="0">
                <a:solidFill>
                  <a:srgbClr val="1B2A41"/>
                </a:solidFill>
                <a:latin typeface="Calibri" pitchFamily="34" charset="0"/>
                <a:ea typeface="Calibri" pitchFamily="34" charset="-122"/>
                <a:cs typeface="Calibri" pitchFamily="34" charset="-120"/>
              </a:rPr>
              <a:t>Small-sample bias audits can be misleading.
</a:t>
            </a:r>
            <a:pPr indent="0" marL="0">
              <a:buNone/>
            </a:pPr>
            <a:r>
              <a:rPr lang="en-US" sz="1200" i="1" dirty="0">
                <a:solidFill>
                  <a:srgbClr val="5A6F84"/>
                </a:solidFill>
                <a:latin typeface="Calibri" pitchFamily="34" charset="0"/>
                <a:ea typeface="Calibri" pitchFamily="34" charset="-122"/>
                <a:cs typeface="Calibri" pitchFamily="34" charset="-120"/>
              </a:rPr>
              <a:t>Our pilot (n=80) and full study (n=600) produced different patterns — proving larger replication is essential.</a:t>
            </a:r>
            <a:endParaRPr lang="en-US" sz="1400" dirty="0"/>
          </a:p>
        </p:txBody>
      </p:sp>
      <p:sp>
        <p:nvSpPr>
          <p:cNvPr id="17" name="Shape 11"/>
          <p:cNvSpPr/>
          <p:nvPr/>
        </p:nvSpPr>
        <p:spPr>
          <a:xfrm>
            <a:off x="457200" y="3840480"/>
            <a:ext cx="8229600" cy="1051560"/>
          </a:xfrm>
          <a:prstGeom prst="rect">
            <a:avLst/>
          </a:prstGeom>
          <a:solidFill>
            <a:srgbClr val="F5F9FC"/>
          </a:solidFill>
          <a:ln w="12700">
            <a:solidFill>
              <a:srgbClr val="D5DEE8"/>
            </a:solidFill>
            <a:prstDash val="solid"/>
          </a:ln>
        </p:spPr>
      </p:sp>
      <p:sp>
        <p:nvSpPr>
          <p:cNvPr id="18" name="Text 12"/>
          <p:cNvSpPr/>
          <p:nvPr/>
        </p:nvSpPr>
        <p:spPr>
          <a:xfrm>
            <a:off x="640080" y="3931920"/>
            <a:ext cx="7863840" cy="274320"/>
          </a:xfrm>
          <a:prstGeom prst="rect">
            <a:avLst/>
          </a:prstGeom>
          <a:noFill/>
          <a:ln/>
        </p:spPr>
        <p:txBody>
          <a:bodyPr wrap="square" lIns="0" tIns="0" rIns="0" bIns="0" rtlCol="0" anchor="ctr"/>
          <a:lstStyle/>
          <a:p>
            <a:pPr indent="0" marL="0">
              <a:buNone/>
            </a:pPr>
            <a:r>
              <a:rPr lang="en-US" sz="1200" b="1" spc="300" kern="0" dirty="0">
                <a:solidFill>
                  <a:srgbClr val="0F4C75"/>
                </a:solidFill>
                <a:latin typeface="Calibri" pitchFamily="34" charset="0"/>
                <a:ea typeface="Calibri" pitchFamily="34" charset="-122"/>
                <a:cs typeface="Calibri" pitchFamily="34" charset="-120"/>
              </a:rPr>
              <a:t>LIMITATIONS &amp; FUTURE WORK</a:t>
            </a:r>
            <a:endParaRPr lang="en-US" sz="1200" dirty="0"/>
          </a:p>
        </p:txBody>
      </p:sp>
      <p:sp>
        <p:nvSpPr>
          <p:cNvPr id="19" name="Text 13"/>
          <p:cNvSpPr/>
          <p:nvPr/>
        </p:nvSpPr>
        <p:spPr>
          <a:xfrm>
            <a:off x="640080" y="4206240"/>
            <a:ext cx="7863840" cy="685800"/>
          </a:xfrm>
          <a:prstGeom prst="rect">
            <a:avLst/>
          </a:prstGeom>
          <a:noFill/>
          <a:ln/>
        </p:spPr>
        <p:txBody>
          <a:bodyPr wrap="square" lIns="0" tIns="0" rIns="0" bIns="0" rtlCol="0" anchor="t"/>
          <a:lstStyle/>
          <a:p>
            <a:pPr indent="0" marL="0">
              <a:buNone/>
            </a:pPr>
            <a:r>
              <a:rPr lang="en-US" sz="1100" dirty="0">
                <a:solidFill>
                  <a:srgbClr val="5A6F84"/>
                </a:solidFill>
                <a:latin typeface="Calibri" pitchFamily="34" charset="0"/>
                <a:ea typeface="Calibri" pitchFamily="34" charset="-122"/>
                <a:cs typeface="Calibri" pitchFamily="34" charset="-120"/>
              </a:rPr>
              <a:t>Single subject model (GPT-4o-mini) — extend to Med-PaLM, Claude, Gemini.   |   Binary race/gender — future work: broader demographics.   |   LLM judge — clinical validation needed.   |   Stochastic outputs — even n=600 may not fully stabilize; larger replications needed.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Intersectional Demographic Disparities in Medical LLM Hallucinations</dc:title>
  <dc:subject>PptxGenJS Presentation</dc:subject>
  <dc:creator>Medical LLM Disparity Study Team</dc:creator>
  <cp:lastModifiedBy>Medical LLM Disparity Study Team</cp:lastModifiedBy>
  <cp:revision>1</cp:revision>
  <dcterms:created xsi:type="dcterms:W3CDTF">2026-05-03T04:25:04Z</dcterms:created>
  <dcterms:modified xsi:type="dcterms:W3CDTF">2026-05-03T04:25:04Z</dcterms:modified>
</cp:coreProperties>
</file>